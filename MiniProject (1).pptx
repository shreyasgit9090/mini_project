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76" r:id="rId9"/>
    <p:sldId id="263" r:id="rId10"/>
    <p:sldId id="264" r:id="rId11"/>
    <p:sldId id="265" r:id="rId12"/>
    <p:sldId id="267" r:id="rId13"/>
    <p:sldId id="268" r:id="rId14"/>
    <p:sldId id="266" r:id="rId15"/>
    <p:sldId id="269" r:id="rId16"/>
    <p:sldId id="270" r:id="rId17"/>
    <p:sldId id="271" r:id="rId18"/>
    <p:sldId id="272" r:id="rId19"/>
    <p:sldId id="273" r:id="rId20"/>
    <p:sldId id="274" r:id="rId21"/>
    <p:sldId id="277"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CA4821-A4EB-4DAA-BE05-26CEDF85041E}"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7FC39CEC-E1BF-431E-B29F-6C2F3C133856}">
      <dgm:prSet custT="1"/>
      <dgm:spPr/>
      <dgm:t>
        <a:bodyPr/>
        <a:lstStyle/>
        <a:p>
          <a:r>
            <a:rPr lang="en-IN" sz="1800"/>
            <a:t>Webcam</a:t>
          </a:r>
        </a:p>
      </dgm:t>
    </dgm:pt>
    <dgm:pt modelId="{08DA307F-7D3C-4C87-92A1-79531D380399}" type="parTrans" cxnId="{D1A26203-744C-4D5C-9561-77C49CD50DD6}">
      <dgm:prSet/>
      <dgm:spPr/>
      <dgm:t>
        <a:bodyPr/>
        <a:lstStyle/>
        <a:p>
          <a:endParaRPr lang="en-IN" sz="1800"/>
        </a:p>
      </dgm:t>
    </dgm:pt>
    <dgm:pt modelId="{94EEE886-C9E5-4D8B-A597-B05786F0C568}" type="sibTrans" cxnId="{D1A26203-744C-4D5C-9561-77C49CD50DD6}">
      <dgm:prSet custT="1"/>
      <dgm:spPr/>
      <dgm:t>
        <a:bodyPr/>
        <a:lstStyle/>
        <a:p>
          <a:endParaRPr lang="en-IN" sz="1800"/>
        </a:p>
      </dgm:t>
    </dgm:pt>
    <dgm:pt modelId="{1BBE144E-632A-49FF-9D7D-CB4C5576176B}">
      <dgm:prSet custT="1"/>
      <dgm:spPr/>
      <dgm:t>
        <a:bodyPr/>
        <a:lstStyle/>
        <a:p>
          <a:r>
            <a:rPr lang="en-IN" sz="1800" dirty="0"/>
            <a:t>Face Detection</a:t>
          </a:r>
        </a:p>
      </dgm:t>
    </dgm:pt>
    <dgm:pt modelId="{2AF6BB17-FB0A-43B5-9BC7-12ECBAD0A586}" type="parTrans" cxnId="{EB82F3DE-F08D-488E-B859-2D7034B7AE04}">
      <dgm:prSet/>
      <dgm:spPr/>
      <dgm:t>
        <a:bodyPr/>
        <a:lstStyle/>
        <a:p>
          <a:endParaRPr lang="en-IN" sz="1800"/>
        </a:p>
      </dgm:t>
    </dgm:pt>
    <dgm:pt modelId="{FB4C7FE1-DF76-4F59-954F-60FB27222B8D}" type="sibTrans" cxnId="{EB82F3DE-F08D-488E-B859-2D7034B7AE04}">
      <dgm:prSet custT="1"/>
      <dgm:spPr/>
      <dgm:t>
        <a:bodyPr/>
        <a:lstStyle/>
        <a:p>
          <a:endParaRPr lang="en-IN" sz="1800"/>
        </a:p>
      </dgm:t>
    </dgm:pt>
    <dgm:pt modelId="{339CA1B5-343C-4BA2-8400-EC5BFD7577F6}">
      <dgm:prSet custT="1"/>
      <dgm:spPr/>
      <dgm:t>
        <a:bodyPr/>
        <a:lstStyle/>
        <a:p>
          <a:r>
            <a:rPr lang="en-IN" sz="1800" dirty="0"/>
            <a:t>Preprocessing</a:t>
          </a:r>
        </a:p>
      </dgm:t>
    </dgm:pt>
    <dgm:pt modelId="{BDC9C00F-BF61-47CC-AD02-77A9C4468064}" type="parTrans" cxnId="{8CF4C804-5D42-4B99-85A1-2F7E17AEAC67}">
      <dgm:prSet/>
      <dgm:spPr/>
      <dgm:t>
        <a:bodyPr/>
        <a:lstStyle/>
        <a:p>
          <a:endParaRPr lang="en-IN" sz="1800"/>
        </a:p>
      </dgm:t>
    </dgm:pt>
    <dgm:pt modelId="{25CC6402-7E24-4ED9-822F-E84FFF9E8B72}" type="sibTrans" cxnId="{8CF4C804-5D42-4B99-85A1-2F7E17AEAC67}">
      <dgm:prSet custT="1"/>
      <dgm:spPr/>
      <dgm:t>
        <a:bodyPr/>
        <a:lstStyle/>
        <a:p>
          <a:endParaRPr lang="en-IN" sz="1800"/>
        </a:p>
      </dgm:t>
    </dgm:pt>
    <dgm:pt modelId="{016B2319-3930-4106-BBD9-6745578E5BBC}">
      <dgm:prSet custT="1"/>
      <dgm:spPr/>
      <dgm:t>
        <a:bodyPr/>
        <a:lstStyle/>
        <a:p>
          <a:r>
            <a:rPr lang="en-IN" sz="1800" dirty="0" err="1"/>
            <a:t>ConvNeXt</a:t>
          </a:r>
          <a:r>
            <a:rPr lang="en-IN" sz="1800" dirty="0"/>
            <a:t>-Tiny</a:t>
          </a:r>
        </a:p>
      </dgm:t>
    </dgm:pt>
    <dgm:pt modelId="{49291B9C-F7D5-4AB9-B49C-DDF954CA1CC5}" type="parTrans" cxnId="{810ACD4D-C6F8-4B5E-A11C-C1038ED4CB6E}">
      <dgm:prSet/>
      <dgm:spPr/>
      <dgm:t>
        <a:bodyPr/>
        <a:lstStyle/>
        <a:p>
          <a:endParaRPr lang="en-IN" sz="1800"/>
        </a:p>
      </dgm:t>
    </dgm:pt>
    <dgm:pt modelId="{DA12E651-490E-4DA5-AA3B-B24092E92003}" type="sibTrans" cxnId="{810ACD4D-C6F8-4B5E-A11C-C1038ED4CB6E}">
      <dgm:prSet custT="1"/>
      <dgm:spPr/>
      <dgm:t>
        <a:bodyPr/>
        <a:lstStyle/>
        <a:p>
          <a:endParaRPr lang="en-IN" sz="1800"/>
        </a:p>
      </dgm:t>
    </dgm:pt>
    <dgm:pt modelId="{3C005BA1-015E-451E-94D4-E1A67BBA946A}">
      <dgm:prSet custT="1"/>
      <dgm:spPr/>
      <dgm:t>
        <a:bodyPr/>
        <a:lstStyle/>
        <a:p>
          <a:r>
            <a:rPr lang="en-IN" sz="1800" dirty="0"/>
            <a:t>Temporal Smoothing</a:t>
          </a:r>
        </a:p>
      </dgm:t>
    </dgm:pt>
    <dgm:pt modelId="{E3C78EA6-74BB-44F8-8A72-F68DBDB256ED}" type="parTrans" cxnId="{C15053AE-042E-401D-97FF-E9DEA7220D9B}">
      <dgm:prSet/>
      <dgm:spPr/>
      <dgm:t>
        <a:bodyPr/>
        <a:lstStyle/>
        <a:p>
          <a:endParaRPr lang="en-IN" sz="1800"/>
        </a:p>
      </dgm:t>
    </dgm:pt>
    <dgm:pt modelId="{469C22A5-16E3-40B8-B5A3-4620AD17CFCB}" type="sibTrans" cxnId="{C15053AE-042E-401D-97FF-E9DEA7220D9B}">
      <dgm:prSet custT="1"/>
      <dgm:spPr/>
      <dgm:t>
        <a:bodyPr/>
        <a:lstStyle/>
        <a:p>
          <a:endParaRPr lang="en-IN" sz="1800"/>
        </a:p>
      </dgm:t>
    </dgm:pt>
    <dgm:pt modelId="{9F7E8593-72FB-4142-91B2-6EF928DAC353}">
      <dgm:prSet custT="1"/>
      <dgm:spPr/>
      <dgm:t>
        <a:bodyPr/>
        <a:lstStyle/>
        <a:p>
          <a:r>
            <a:rPr lang="en-IN" sz="1800" dirty="0"/>
            <a:t>Baseline Calibration</a:t>
          </a:r>
        </a:p>
      </dgm:t>
    </dgm:pt>
    <dgm:pt modelId="{CFD7C3E2-E26C-491D-9B2E-923BB1A43C30}" type="parTrans" cxnId="{D7A2BCAF-AA41-4CF6-A95B-A13108586A24}">
      <dgm:prSet/>
      <dgm:spPr/>
      <dgm:t>
        <a:bodyPr/>
        <a:lstStyle/>
        <a:p>
          <a:endParaRPr lang="en-IN" sz="1800"/>
        </a:p>
      </dgm:t>
    </dgm:pt>
    <dgm:pt modelId="{AE115B1A-A96E-40A1-8976-5867413C3B16}" type="sibTrans" cxnId="{D7A2BCAF-AA41-4CF6-A95B-A13108586A24}">
      <dgm:prSet custT="1"/>
      <dgm:spPr/>
      <dgm:t>
        <a:bodyPr/>
        <a:lstStyle/>
        <a:p>
          <a:endParaRPr lang="en-IN" sz="1800"/>
        </a:p>
      </dgm:t>
    </dgm:pt>
    <dgm:pt modelId="{AC4F8D85-3A78-4EE2-82D1-64BF68112D8E}">
      <dgm:prSet custT="1"/>
      <dgm:spPr/>
      <dgm:t>
        <a:bodyPr/>
        <a:lstStyle/>
        <a:p>
          <a:r>
            <a:rPr lang="en-IN" sz="1800" dirty="0"/>
            <a:t>Emotion Prediction</a:t>
          </a:r>
        </a:p>
      </dgm:t>
    </dgm:pt>
    <dgm:pt modelId="{3429E9DB-8E84-42FA-9E39-42D88AF5C045}" type="parTrans" cxnId="{C080C373-F58B-4615-9E89-BF8423BD7E87}">
      <dgm:prSet/>
      <dgm:spPr/>
      <dgm:t>
        <a:bodyPr/>
        <a:lstStyle/>
        <a:p>
          <a:endParaRPr lang="en-IN" sz="1800"/>
        </a:p>
      </dgm:t>
    </dgm:pt>
    <dgm:pt modelId="{76983390-0979-4E13-8FEE-4D6B337EFDB6}" type="sibTrans" cxnId="{C080C373-F58B-4615-9E89-BF8423BD7E87}">
      <dgm:prSet custT="1"/>
      <dgm:spPr/>
      <dgm:t>
        <a:bodyPr/>
        <a:lstStyle/>
        <a:p>
          <a:endParaRPr lang="en-IN" sz="1800"/>
        </a:p>
      </dgm:t>
    </dgm:pt>
    <dgm:pt modelId="{363B147A-F3D3-4404-B868-4C32D8A8F54A}">
      <dgm:prSet custT="1"/>
      <dgm:spPr/>
      <dgm:t>
        <a:bodyPr/>
        <a:lstStyle/>
        <a:p>
          <a:r>
            <a:rPr lang="en-IN" sz="1800" dirty="0"/>
            <a:t>Music Recommendation</a:t>
          </a:r>
        </a:p>
      </dgm:t>
    </dgm:pt>
    <dgm:pt modelId="{178C83E8-AB2F-4B9F-8CF2-F5A20C23D2E2}" type="parTrans" cxnId="{01A7C164-7639-47E0-946B-AA39960574B3}">
      <dgm:prSet/>
      <dgm:spPr/>
      <dgm:t>
        <a:bodyPr/>
        <a:lstStyle/>
        <a:p>
          <a:endParaRPr lang="en-IN" sz="1800"/>
        </a:p>
      </dgm:t>
    </dgm:pt>
    <dgm:pt modelId="{4E23CF42-C6BF-476E-9F0F-990F3F26109F}" type="sibTrans" cxnId="{01A7C164-7639-47E0-946B-AA39960574B3}">
      <dgm:prSet/>
      <dgm:spPr/>
      <dgm:t>
        <a:bodyPr/>
        <a:lstStyle/>
        <a:p>
          <a:endParaRPr lang="en-IN" sz="1800"/>
        </a:p>
      </dgm:t>
    </dgm:pt>
    <dgm:pt modelId="{782D5CFA-A1F8-4A6B-B814-E93C1C0CEA15}" type="pres">
      <dgm:prSet presAssocID="{A4CA4821-A4EB-4DAA-BE05-26CEDF85041E}" presName="Name0" presStyleCnt="0">
        <dgm:presLayoutVars>
          <dgm:dir/>
          <dgm:resizeHandles val="exact"/>
        </dgm:presLayoutVars>
      </dgm:prSet>
      <dgm:spPr/>
    </dgm:pt>
    <dgm:pt modelId="{3304F457-6B83-4048-B73C-299C42536CEA}" type="pres">
      <dgm:prSet presAssocID="{7FC39CEC-E1BF-431E-B29F-6C2F3C133856}" presName="node" presStyleLbl="node1" presStyleIdx="0" presStyleCnt="8" custScaleX="161590" custLinFactNeighborX="13086">
        <dgm:presLayoutVars>
          <dgm:bulletEnabled val="1"/>
        </dgm:presLayoutVars>
      </dgm:prSet>
      <dgm:spPr/>
    </dgm:pt>
    <dgm:pt modelId="{E0000B58-A78E-4900-A1BA-8873BD71A711}" type="pres">
      <dgm:prSet presAssocID="{94EEE886-C9E5-4D8B-A597-B05786F0C568}" presName="sibTrans" presStyleLbl="sibTrans2D1" presStyleIdx="0" presStyleCnt="7"/>
      <dgm:spPr/>
    </dgm:pt>
    <dgm:pt modelId="{42D45219-FC29-4DEB-857D-DF39336D4FB0}" type="pres">
      <dgm:prSet presAssocID="{94EEE886-C9E5-4D8B-A597-B05786F0C568}" presName="connectorText" presStyleLbl="sibTrans2D1" presStyleIdx="0" presStyleCnt="7"/>
      <dgm:spPr/>
    </dgm:pt>
    <dgm:pt modelId="{D7498838-A955-4606-9B90-883DDD3EFE6B}" type="pres">
      <dgm:prSet presAssocID="{1BBE144E-632A-49FF-9D7D-CB4C5576176B}" presName="node" presStyleLbl="node1" presStyleIdx="1" presStyleCnt="8" custScaleX="172678" custLinFactX="68375" custLinFactNeighborX="100000">
        <dgm:presLayoutVars>
          <dgm:bulletEnabled val="1"/>
        </dgm:presLayoutVars>
      </dgm:prSet>
      <dgm:spPr/>
    </dgm:pt>
    <dgm:pt modelId="{1A2C5922-BD2E-4398-BEAD-25B1B1E2BB81}" type="pres">
      <dgm:prSet presAssocID="{FB4C7FE1-DF76-4F59-954F-60FB27222B8D}" presName="sibTrans" presStyleLbl="sibTrans2D1" presStyleIdx="1" presStyleCnt="7"/>
      <dgm:spPr/>
    </dgm:pt>
    <dgm:pt modelId="{705E174D-F7D3-4F6B-A5C0-5E1DB8F5DEE7}" type="pres">
      <dgm:prSet presAssocID="{FB4C7FE1-DF76-4F59-954F-60FB27222B8D}" presName="connectorText" presStyleLbl="sibTrans2D1" presStyleIdx="1" presStyleCnt="7"/>
      <dgm:spPr/>
    </dgm:pt>
    <dgm:pt modelId="{7ACEA147-AFB3-4EA0-8E2C-D267FA99F159}" type="pres">
      <dgm:prSet presAssocID="{339CA1B5-343C-4BA2-8400-EC5BFD7577F6}" presName="node" presStyleLbl="node1" presStyleIdx="2" presStyleCnt="8" custScaleX="217409" custLinFactX="100000" custLinFactNeighborX="172434" custLinFactNeighborY="2538">
        <dgm:presLayoutVars>
          <dgm:bulletEnabled val="1"/>
        </dgm:presLayoutVars>
      </dgm:prSet>
      <dgm:spPr/>
    </dgm:pt>
    <dgm:pt modelId="{F020B267-ED17-40B3-A8E1-08B40B8E4EA2}" type="pres">
      <dgm:prSet presAssocID="{25CC6402-7E24-4ED9-822F-E84FFF9E8B72}" presName="sibTrans" presStyleLbl="sibTrans2D1" presStyleIdx="2" presStyleCnt="7"/>
      <dgm:spPr/>
    </dgm:pt>
    <dgm:pt modelId="{23A0356E-3680-42B0-9C70-400C211656B2}" type="pres">
      <dgm:prSet presAssocID="{25CC6402-7E24-4ED9-822F-E84FFF9E8B72}" presName="connectorText" presStyleLbl="sibTrans2D1" presStyleIdx="2" presStyleCnt="7"/>
      <dgm:spPr/>
    </dgm:pt>
    <dgm:pt modelId="{BC1ABDEA-851F-42A4-9DA0-BDE1B5753E01}" type="pres">
      <dgm:prSet presAssocID="{016B2319-3930-4106-BBD9-6745578E5BBC}" presName="node" presStyleLbl="node1" presStyleIdx="3" presStyleCnt="8" custScaleX="186726" custLinFactX="154882" custLinFactNeighborX="200000" custLinFactNeighborY="2538">
        <dgm:presLayoutVars>
          <dgm:bulletEnabled val="1"/>
        </dgm:presLayoutVars>
      </dgm:prSet>
      <dgm:spPr/>
    </dgm:pt>
    <dgm:pt modelId="{4DC52068-B747-43D4-866D-8D046CC5152B}" type="pres">
      <dgm:prSet presAssocID="{DA12E651-490E-4DA5-AA3B-B24092E92003}" presName="sibTrans" presStyleLbl="sibTrans2D1" presStyleIdx="3" presStyleCnt="7"/>
      <dgm:spPr/>
    </dgm:pt>
    <dgm:pt modelId="{254B701D-FD36-4929-8C6D-1DF5B3917DEC}" type="pres">
      <dgm:prSet presAssocID="{DA12E651-490E-4DA5-AA3B-B24092E92003}" presName="connectorText" presStyleLbl="sibTrans2D1" presStyleIdx="3" presStyleCnt="7"/>
      <dgm:spPr/>
    </dgm:pt>
    <dgm:pt modelId="{AA49B04A-ECFB-4091-91B1-DE8A0568A35F}" type="pres">
      <dgm:prSet presAssocID="{3C005BA1-015E-451E-94D4-E1A67BBA946A}" presName="node" presStyleLbl="node1" presStyleIdx="4" presStyleCnt="8" custScaleX="171506" custLinFactX="270356" custLinFactNeighborX="300000" custLinFactNeighborY="2538">
        <dgm:presLayoutVars>
          <dgm:bulletEnabled val="1"/>
        </dgm:presLayoutVars>
      </dgm:prSet>
      <dgm:spPr/>
    </dgm:pt>
    <dgm:pt modelId="{AD9C6F66-29ED-402D-BE1B-3EF526B2B6BE}" type="pres">
      <dgm:prSet presAssocID="{469C22A5-16E3-40B8-B5A3-4620AD17CFCB}" presName="sibTrans" presStyleLbl="sibTrans2D1" presStyleIdx="4" presStyleCnt="7"/>
      <dgm:spPr/>
    </dgm:pt>
    <dgm:pt modelId="{2660F4C8-5588-48B0-BB66-CC3B54BCBE51}" type="pres">
      <dgm:prSet presAssocID="{469C22A5-16E3-40B8-B5A3-4620AD17CFCB}" presName="connectorText" presStyleLbl="sibTrans2D1" presStyleIdx="4" presStyleCnt="7"/>
      <dgm:spPr/>
    </dgm:pt>
    <dgm:pt modelId="{0C848E28-15DC-47FB-935A-451E4707C80E}" type="pres">
      <dgm:prSet presAssocID="{9F7E8593-72FB-4142-91B2-6EF928DAC353}" presName="node" presStyleLbl="node1" presStyleIdx="5" presStyleCnt="8" custScaleX="193615" custLinFactY="100000" custLinFactNeighborX="-85124" custLinFactNeighborY="103115">
        <dgm:presLayoutVars>
          <dgm:bulletEnabled val="1"/>
        </dgm:presLayoutVars>
      </dgm:prSet>
      <dgm:spPr/>
    </dgm:pt>
    <dgm:pt modelId="{FA6876D6-4057-46BF-9450-410A3FEE62A2}" type="pres">
      <dgm:prSet presAssocID="{AE115B1A-A96E-40A1-8976-5867413C3B16}" presName="sibTrans" presStyleLbl="sibTrans2D1" presStyleIdx="5" presStyleCnt="7"/>
      <dgm:spPr/>
    </dgm:pt>
    <dgm:pt modelId="{98C70C8D-2064-47A3-AC9B-E1D02786F888}" type="pres">
      <dgm:prSet presAssocID="{AE115B1A-A96E-40A1-8976-5867413C3B16}" presName="connectorText" presStyleLbl="sibTrans2D1" presStyleIdx="5" presStyleCnt="7"/>
      <dgm:spPr/>
    </dgm:pt>
    <dgm:pt modelId="{6402E552-8E14-4CD5-BFB5-64E5EBAA06C8}" type="pres">
      <dgm:prSet presAssocID="{AC4F8D85-3A78-4EE2-82D1-64BF68112D8E}" presName="node" presStyleLbl="node1" presStyleIdx="6" presStyleCnt="8" custScaleX="164231" custLinFactX="-421197" custLinFactY="100000" custLinFactNeighborX="-500000" custLinFactNeighborY="124272">
        <dgm:presLayoutVars>
          <dgm:bulletEnabled val="1"/>
        </dgm:presLayoutVars>
      </dgm:prSet>
      <dgm:spPr/>
    </dgm:pt>
    <dgm:pt modelId="{4CABEC59-B26A-4F23-8CF9-839D513F5397}" type="pres">
      <dgm:prSet presAssocID="{76983390-0979-4E13-8FEE-4D6B337EFDB6}" presName="sibTrans" presStyleLbl="sibTrans2D1" presStyleIdx="6" presStyleCnt="7"/>
      <dgm:spPr/>
    </dgm:pt>
    <dgm:pt modelId="{77CDDB69-CEC9-4697-9A73-B306EF5AB059}" type="pres">
      <dgm:prSet presAssocID="{76983390-0979-4E13-8FEE-4D6B337EFDB6}" presName="connectorText" presStyleLbl="sibTrans2D1" presStyleIdx="6" presStyleCnt="7"/>
      <dgm:spPr/>
    </dgm:pt>
    <dgm:pt modelId="{F7C1007C-5123-4433-A9F5-F5B3D0250A0D}" type="pres">
      <dgm:prSet presAssocID="{363B147A-F3D3-4404-B868-4C32D8A8F54A}" presName="node" presStyleLbl="node1" presStyleIdx="7" presStyleCnt="8" custScaleX="275407" custScaleY="102536" custLinFactX="-846875" custLinFactY="100000" custLinFactNeighborX="-900000" custLinFactNeighborY="128504">
        <dgm:presLayoutVars>
          <dgm:bulletEnabled val="1"/>
        </dgm:presLayoutVars>
      </dgm:prSet>
      <dgm:spPr/>
    </dgm:pt>
  </dgm:ptLst>
  <dgm:cxnLst>
    <dgm:cxn modelId="{D1A26203-744C-4D5C-9561-77C49CD50DD6}" srcId="{A4CA4821-A4EB-4DAA-BE05-26CEDF85041E}" destId="{7FC39CEC-E1BF-431E-B29F-6C2F3C133856}" srcOrd="0" destOrd="0" parTransId="{08DA307F-7D3C-4C87-92A1-79531D380399}" sibTransId="{94EEE886-C9E5-4D8B-A597-B05786F0C568}"/>
    <dgm:cxn modelId="{7409C803-A01D-44C9-8C7C-E96E51785EAB}" type="presOf" srcId="{DA12E651-490E-4DA5-AA3B-B24092E92003}" destId="{254B701D-FD36-4929-8C6D-1DF5B3917DEC}" srcOrd="1" destOrd="0" presId="urn:microsoft.com/office/officeart/2005/8/layout/process1"/>
    <dgm:cxn modelId="{8CF4C804-5D42-4B99-85A1-2F7E17AEAC67}" srcId="{A4CA4821-A4EB-4DAA-BE05-26CEDF85041E}" destId="{339CA1B5-343C-4BA2-8400-EC5BFD7577F6}" srcOrd="2" destOrd="0" parTransId="{BDC9C00F-BF61-47CC-AD02-77A9C4468064}" sibTransId="{25CC6402-7E24-4ED9-822F-E84FFF9E8B72}"/>
    <dgm:cxn modelId="{684DEC0C-0C2A-451B-AAAA-C52D056EFAB5}" type="presOf" srcId="{1BBE144E-632A-49FF-9D7D-CB4C5576176B}" destId="{D7498838-A955-4606-9B90-883DDD3EFE6B}" srcOrd="0" destOrd="0" presId="urn:microsoft.com/office/officeart/2005/8/layout/process1"/>
    <dgm:cxn modelId="{46B3120F-B134-444D-BF52-6BA919F61808}" type="presOf" srcId="{94EEE886-C9E5-4D8B-A597-B05786F0C568}" destId="{42D45219-FC29-4DEB-857D-DF39336D4FB0}" srcOrd="1" destOrd="0" presId="urn:microsoft.com/office/officeart/2005/8/layout/process1"/>
    <dgm:cxn modelId="{D112360F-EA38-4F26-AA39-E523834858DD}" type="presOf" srcId="{AE115B1A-A96E-40A1-8976-5867413C3B16}" destId="{FA6876D6-4057-46BF-9450-410A3FEE62A2}" srcOrd="0" destOrd="0" presId="urn:microsoft.com/office/officeart/2005/8/layout/process1"/>
    <dgm:cxn modelId="{108D293E-5F91-4340-8D52-67B42200C64E}" type="presOf" srcId="{AC4F8D85-3A78-4EE2-82D1-64BF68112D8E}" destId="{6402E552-8E14-4CD5-BFB5-64E5EBAA06C8}" srcOrd="0" destOrd="0" presId="urn:microsoft.com/office/officeart/2005/8/layout/process1"/>
    <dgm:cxn modelId="{01A7C164-7639-47E0-946B-AA39960574B3}" srcId="{A4CA4821-A4EB-4DAA-BE05-26CEDF85041E}" destId="{363B147A-F3D3-4404-B868-4C32D8A8F54A}" srcOrd="7" destOrd="0" parTransId="{178C83E8-AB2F-4B9F-8CF2-F5A20C23D2E2}" sibTransId="{4E23CF42-C6BF-476E-9F0F-990F3F26109F}"/>
    <dgm:cxn modelId="{D710F065-9CC5-4D79-B719-31277E221B4D}" type="presOf" srcId="{3C005BA1-015E-451E-94D4-E1A67BBA946A}" destId="{AA49B04A-ECFB-4091-91B1-DE8A0568A35F}" srcOrd="0" destOrd="0" presId="urn:microsoft.com/office/officeart/2005/8/layout/process1"/>
    <dgm:cxn modelId="{B2B3B768-702F-4FA7-9988-57314747EB7E}" type="presOf" srcId="{7FC39CEC-E1BF-431E-B29F-6C2F3C133856}" destId="{3304F457-6B83-4048-B73C-299C42536CEA}" srcOrd="0" destOrd="0" presId="urn:microsoft.com/office/officeart/2005/8/layout/process1"/>
    <dgm:cxn modelId="{AA80B84A-73D8-4AE3-BE6C-79923C4A9319}" type="presOf" srcId="{339CA1B5-343C-4BA2-8400-EC5BFD7577F6}" destId="{7ACEA147-AFB3-4EA0-8E2C-D267FA99F159}" srcOrd="0" destOrd="0" presId="urn:microsoft.com/office/officeart/2005/8/layout/process1"/>
    <dgm:cxn modelId="{5BF9F56A-A4DA-4425-8CE2-E037E97660EF}" type="presOf" srcId="{FB4C7FE1-DF76-4F59-954F-60FB27222B8D}" destId="{1A2C5922-BD2E-4398-BEAD-25B1B1E2BB81}" srcOrd="0" destOrd="0" presId="urn:microsoft.com/office/officeart/2005/8/layout/process1"/>
    <dgm:cxn modelId="{810ACD4D-C6F8-4B5E-A11C-C1038ED4CB6E}" srcId="{A4CA4821-A4EB-4DAA-BE05-26CEDF85041E}" destId="{016B2319-3930-4106-BBD9-6745578E5BBC}" srcOrd="3" destOrd="0" parTransId="{49291B9C-F7D5-4AB9-B49C-DDF954CA1CC5}" sibTransId="{DA12E651-490E-4DA5-AA3B-B24092E92003}"/>
    <dgm:cxn modelId="{7EA0D14E-5CC0-4346-A41D-BFD2963E93AC}" type="presOf" srcId="{DA12E651-490E-4DA5-AA3B-B24092E92003}" destId="{4DC52068-B747-43D4-866D-8D046CC5152B}" srcOrd="0" destOrd="0" presId="urn:microsoft.com/office/officeart/2005/8/layout/process1"/>
    <dgm:cxn modelId="{9E9BB873-88BF-4BF0-93D1-42D1BED7B23F}" type="presOf" srcId="{FB4C7FE1-DF76-4F59-954F-60FB27222B8D}" destId="{705E174D-F7D3-4F6B-A5C0-5E1DB8F5DEE7}" srcOrd="1" destOrd="0" presId="urn:microsoft.com/office/officeart/2005/8/layout/process1"/>
    <dgm:cxn modelId="{C080C373-F58B-4615-9E89-BF8423BD7E87}" srcId="{A4CA4821-A4EB-4DAA-BE05-26CEDF85041E}" destId="{AC4F8D85-3A78-4EE2-82D1-64BF68112D8E}" srcOrd="6" destOrd="0" parTransId="{3429E9DB-8E84-42FA-9E39-42D88AF5C045}" sibTransId="{76983390-0979-4E13-8FEE-4D6B337EFDB6}"/>
    <dgm:cxn modelId="{0B5FA675-C66B-4089-9C04-519A4B0374F6}" type="presOf" srcId="{469C22A5-16E3-40B8-B5A3-4620AD17CFCB}" destId="{2660F4C8-5588-48B0-BB66-CC3B54BCBE51}" srcOrd="1" destOrd="0" presId="urn:microsoft.com/office/officeart/2005/8/layout/process1"/>
    <dgm:cxn modelId="{C264527F-4A3F-4108-B95A-0CA01EDB3E9C}" type="presOf" srcId="{469C22A5-16E3-40B8-B5A3-4620AD17CFCB}" destId="{AD9C6F66-29ED-402D-BE1B-3EF526B2B6BE}" srcOrd="0" destOrd="0" presId="urn:microsoft.com/office/officeart/2005/8/layout/process1"/>
    <dgm:cxn modelId="{493FF682-B507-42A5-B930-4A808BA16AC6}" type="presOf" srcId="{363B147A-F3D3-4404-B868-4C32D8A8F54A}" destId="{F7C1007C-5123-4433-A9F5-F5B3D0250A0D}" srcOrd="0" destOrd="0" presId="urn:microsoft.com/office/officeart/2005/8/layout/process1"/>
    <dgm:cxn modelId="{54F6C886-D130-4CD5-94B2-12A6EEF2555E}" type="presOf" srcId="{94EEE886-C9E5-4D8B-A597-B05786F0C568}" destId="{E0000B58-A78E-4900-A1BA-8873BD71A711}" srcOrd="0" destOrd="0" presId="urn:microsoft.com/office/officeart/2005/8/layout/process1"/>
    <dgm:cxn modelId="{902F6088-7929-47E9-804A-C1084A1476C0}" type="presOf" srcId="{AE115B1A-A96E-40A1-8976-5867413C3B16}" destId="{98C70C8D-2064-47A3-AC9B-E1D02786F888}" srcOrd="1" destOrd="0" presId="urn:microsoft.com/office/officeart/2005/8/layout/process1"/>
    <dgm:cxn modelId="{C15053AE-042E-401D-97FF-E9DEA7220D9B}" srcId="{A4CA4821-A4EB-4DAA-BE05-26CEDF85041E}" destId="{3C005BA1-015E-451E-94D4-E1A67BBA946A}" srcOrd="4" destOrd="0" parTransId="{E3C78EA6-74BB-44F8-8A72-F68DBDB256ED}" sibTransId="{469C22A5-16E3-40B8-B5A3-4620AD17CFCB}"/>
    <dgm:cxn modelId="{D7A2BCAF-AA41-4CF6-A95B-A13108586A24}" srcId="{A4CA4821-A4EB-4DAA-BE05-26CEDF85041E}" destId="{9F7E8593-72FB-4142-91B2-6EF928DAC353}" srcOrd="5" destOrd="0" parTransId="{CFD7C3E2-E26C-491D-9B2E-923BB1A43C30}" sibTransId="{AE115B1A-A96E-40A1-8976-5867413C3B16}"/>
    <dgm:cxn modelId="{4209E5B5-3940-4448-9052-78C990E63129}" type="presOf" srcId="{A4CA4821-A4EB-4DAA-BE05-26CEDF85041E}" destId="{782D5CFA-A1F8-4A6B-B814-E93C1C0CEA15}" srcOrd="0" destOrd="0" presId="urn:microsoft.com/office/officeart/2005/8/layout/process1"/>
    <dgm:cxn modelId="{42E4DCB6-C414-4734-A570-2FCD33EC5644}" type="presOf" srcId="{016B2319-3930-4106-BBD9-6745578E5BBC}" destId="{BC1ABDEA-851F-42A4-9DA0-BDE1B5753E01}" srcOrd="0" destOrd="0" presId="urn:microsoft.com/office/officeart/2005/8/layout/process1"/>
    <dgm:cxn modelId="{7130ECB6-899B-406A-8295-2F90C20ECB92}" type="presOf" srcId="{76983390-0979-4E13-8FEE-4D6B337EFDB6}" destId="{4CABEC59-B26A-4F23-8CF9-839D513F5397}" srcOrd="0" destOrd="0" presId="urn:microsoft.com/office/officeart/2005/8/layout/process1"/>
    <dgm:cxn modelId="{A58B57C5-37ED-41CF-8471-6D2ABF2DB884}" type="presOf" srcId="{9F7E8593-72FB-4142-91B2-6EF928DAC353}" destId="{0C848E28-15DC-47FB-935A-451E4707C80E}" srcOrd="0" destOrd="0" presId="urn:microsoft.com/office/officeart/2005/8/layout/process1"/>
    <dgm:cxn modelId="{8A7BD8D5-96DE-483E-84D2-79CC68062485}" type="presOf" srcId="{25CC6402-7E24-4ED9-822F-E84FFF9E8B72}" destId="{F020B267-ED17-40B3-A8E1-08B40B8E4EA2}" srcOrd="0" destOrd="0" presId="urn:microsoft.com/office/officeart/2005/8/layout/process1"/>
    <dgm:cxn modelId="{31559ADC-78F2-4011-BC37-CB131B07E569}" type="presOf" srcId="{25CC6402-7E24-4ED9-822F-E84FFF9E8B72}" destId="{23A0356E-3680-42B0-9C70-400C211656B2}" srcOrd="1" destOrd="0" presId="urn:microsoft.com/office/officeart/2005/8/layout/process1"/>
    <dgm:cxn modelId="{EB82F3DE-F08D-488E-B859-2D7034B7AE04}" srcId="{A4CA4821-A4EB-4DAA-BE05-26CEDF85041E}" destId="{1BBE144E-632A-49FF-9D7D-CB4C5576176B}" srcOrd="1" destOrd="0" parTransId="{2AF6BB17-FB0A-43B5-9BC7-12ECBAD0A586}" sibTransId="{FB4C7FE1-DF76-4F59-954F-60FB27222B8D}"/>
    <dgm:cxn modelId="{F873DCF8-D4C1-40B1-9CDD-B5ADFF8B03FD}" type="presOf" srcId="{76983390-0979-4E13-8FEE-4D6B337EFDB6}" destId="{77CDDB69-CEC9-4697-9A73-B306EF5AB059}" srcOrd="1" destOrd="0" presId="urn:microsoft.com/office/officeart/2005/8/layout/process1"/>
    <dgm:cxn modelId="{8A5E6D2E-D587-4593-B88F-642DA4799A9F}" type="presParOf" srcId="{782D5CFA-A1F8-4A6B-B814-E93C1C0CEA15}" destId="{3304F457-6B83-4048-B73C-299C42536CEA}" srcOrd="0" destOrd="0" presId="urn:microsoft.com/office/officeart/2005/8/layout/process1"/>
    <dgm:cxn modelId="{4EC1431B-71BC-49D7-8B3C-B25D6AAE26E5}" type="presParOf" srcId="{782D5CFA-A1F8-4A6B-B814-E93C1C0CEA15}" destId="{E0000B58-A78E-4900-A1BA-8873BD71A711}" srcOrd="1" destOrd="0" presId="urn:microsoft.com/office/officeart/2005/8/layout/process1"/>
    <dgm:cxn modelId="{DD53BA3C-B8A5-4C66-A064-F79AB85F55D4}" type="presParOf" srcId="{E0000B58-A78E-4900-A1BA-8873BD71A711}" destId="{42D45219-FC29-4DEB-857D-DF39336D4FB0}" srcOrd="0" destOrd="0" presId="urn:microsoft.com/office/officeart/2005/8/layout/process1"/>
    <dgm:cxn modelId="{0A5E4351-04C4-45CF-A834-E0A18BBAE57A}" type="presParOf" srcId="{782D5CFA-A1F8-4A6B-B814-E93C1C0CEA15}" destId="{D7498838-A955-4606-9B90-883DDD3EFE6B}" srcOrd="2" destOrd="0" presId="urn:microsoft.com/office/officeart/2005/8/layout/process1"/>
    <dgm:cxn modelId="{580DE2A7-9B11-4E6F-875D-1C965E3DDCED}" type="presParOf" srcId="{782D5CFA-A1F8-4A6B-B814-E93C1C0CEA15}" destId="{1A2C5922-BD2E-4398-BEAD-25B1B1E2BB81}" srcOrd="3" destOrd="0" presId="urn:microsoft.com/office/officeart/2005/8/layout/process1"/>
    <dgm:cxn modelId="{B877A3A7-5949-4432-9BC0-20EB19EDECD3}" type="presParOf" srcId="{1A2C5922-BD2E-4398-BEAD-25B1B1E2BB81}" destId="{705E174D-F7D3-4F6B-A5C0-5E1DB8F5DEE7}" srcOrd="0" destOrd="0" presId="urn:microsoft.com/office/officeart/2005/8/layout/process1"/>
    <dgm:cxn modelId="{0075832C-440F-4D33-AD71-D5CD14DA3125}" type="presParOf" srcId="{782D5CFA-A1F8-4A6B-B814-E93C1C0CEA15}" destId="{7ACEA147-AFB3-4EA0-8E2C-D267FA99F159}" srcOrd="4" destOrd="0" presId="urn:microsoft.com/office/officeart/2005/8/layout/process1"/>
    <dgm:cxn modelId="{183C7194-E679-457D-8B38-491CE34E7E8A}" type="presParOf" srcId="{782D5CFA-A1F8-4A6B-B814-E93C1C0CEA15}" destId="{F020B267-ED17-40B3-A8E1-08B40B8E4EA2}" srcOrd="5" destOrd="0" presId="urn:microsoft.com/office/officeart/2005/8/layout/process1"/>
    <dgm:cxn modelId="{8BBFC8B2-5FEF-4CB6-9D9F-848E6A17A3E7}" type="presParOf" srcId="{F020B267-ED17-40B3-A8E1-08B40B8E4EA2}" destId="{23A0356E-3680-42B0-9C70-400C211656B2}" srcOrd="0" destOrd="0" presId="urn:microsoft.com/office/officeart/2005/8/layout/process1"/>
    <dgm:cxn modelId="{2AD2DDCA-63FE-487F-96FB-F0AB1A15F2BF}" type="presParOf" srcId="{782D5CFA-A1F8-4A6B-B814-E93C1C0CEA15}" destId="{BC1ABDEA-851F-42A4-9DA0-BDE1B5753E01}" srcOrd="6" destOrd="0" presId="urn:microsoft.com/office/officeart/2005/8/layout/process1"/>
    <dgm:cxn modelId="{5185DF5F-1A59-48BA-BE87-7E61173E6241}" type="presParOf" srcId="{782D5CFA-A1F8-4A6B-B814-E93C1C0CEA15}" destId="{4DC52068-B747-43D4-866D-8D046CC5152B}" srcOrd="7" destOrd="0" presId="urn:microsoft.com/office/officeart/2005/8/layout/process1"/>
    <dgm:cxn modelId="{D8DB3F56-ED24-4613-9E59-6995628A411C}" type="presParOf" srcId="{4DC52068-B747-43D4-866D-8D046CC5152B}" destId="{254B701D-FD36-4929-8C6D-1DF5B3917DEC}" srcOrd="0" destOrd="0" presId="urn:microsoft.com/office/officeart/2005/8/layout/process1"/>
    <dgm:cxn modelId="{A44C644D-63A0-4414-9FD9-44929146E30D}" type="presParOf" srcId="{782D5CFA-A1F8-4A6B-B814-E93C1C0CEA15}" destId="{AA49B04A-ECFB-4091-91B1-DE8A0568A35F}" srcOrd="8" destOrd="0" presId="urn:microsoft.com/office/officeart/2005/8/layout/process1"/>
    <dgm:cxn modelId="{C3B1058A-31A8-438A-AA3B-A67CAAD5719C}" type="presParOf" srcId="{782D5CFA-A1F8-4A6B-B814-E93C1C0CEA15}" destId="{AD9C6F66-29ED-402D-BE1B-3EF526B2B6BE}" srcOrd="9" destOrd="0" presId="urn:microsoft.com/office/officeart/2005/8/layout/process1"/>
    <dgm:cxn modelId="{001E6D93-8D2A-47F7-84E7-9FD87FE51799}" type="presParOf" srcId="{AD9C6F66-29ED-402D-BE1B-3EF526B2B6BE}" destId="{2660F4C8-5588-48B0-BB66-CC3B54BCBE51}" srcOrd="0" destOrd="0" presId="urn:microsoft.com/office/officeart/2005/8/layout/process1"/>
    <dgm:cxn modelId="{960D93B7-0770-4809-93E9-4C9E1C213972}" type="presParOf" srcId="{782D5CFA-A1F8-4A6B-B814-E93C1C0CEA15}" destId="{0C848E28-15DC-47FB-935A-451E4707C80E}" srcOrd="10" destOrd="0" presId="urn:microsoft.com/office/officeart/2005/8/layout/process1"/>
    <dgm:cxn modelId="{C32D8EF6-F32C-4871-B3AA-3478894CD9DB}" type="presParOf" srcId="{782D5CFA-A1F8-4A6B-B814-E93C1C0CEA15}" destId="{FA6876D6-4057-46BF-9450-410A3FEE62A2}" srcOrd="11" destOrd="0" presId="urn:microsoft.com/office/officeart/2005/8/layout/process1"/>
    <dgm:cxn modelId="{25C0FB6A-20CD-49DA-974B-B3013F9BD5E4}" type="presParOf" srcId="{FA6876D6-4057-46BF-9450-410A3FEE62A2}" destId="{98C70C8D-2064-47A3-AC9B-E1D02786F888}" srcOrd="0" destOrd="0" presId="urn:microsoft.com/office/officeart/2005/8/layout/process1"/>
    <dgm:cxn modelId="{DA5F4DEE-B00E-43EF-BDC9-792A461BE275}" type="presParOf" srcId="{782D5CFA-A1F8-4A6B-B814-E93C1C0CEA15}" destId="{6402E552-8E14-4CD5-BFB5-64E5EBAA06C8}" srcOrd="12" destOrd="0" presId="urn:microsoft.com/office/officeart/2005/8/layout/process1"/>
    <dgm:cxn modelId="{1029F0B3-4980-428C-BE0C-918024596A26}" type="presParOf" srcId="{782D5CFA-A1F8-4A6B-B814-E93C1C0CEA15}" destId="{4CABEC59-B26A-4F23-8CF9-839D513F5397}" srcOrd="13" destOrd="0" presId="urn:microsoft.com/office/officeart/2005/8/layout/process1"/>
    <dgm:cxn modelId="{795A908E-8B20-43E7-A585-3332B0EBC6D6}" type="presParOf" srcId="{4CABEC59-B26A-4F23-8CF9-839D513F5397}" destId="{77CDDB69-CEC9-4697-9A73-B306EF5AB059}" srcOrd="0" destOrd="0" presId="urn:microsoft.com/office/officeart/2005/8/layout/process1"/>
    <dgm:cxn modelId="{7CD4691C-4A2A-4B9D-9C6D-2366D427D34D}" type="presParOf" srcId="{782D5CFA-A1F8-4A6B-B814-E93C1C0CEA15}" destId="{F7C1007C-5123-4433-A9F5-F5B3D0250A0D}" srcOrd="1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4F457-6B83-4048-B73C-299C42536CEA}">
      <dsp:nvSpPr>
        <dsp:cNvPr id="0" name=""/>
        <dsp:cNvSpPr/>
      </dsp:nvSpPr>
      <dsp:spPr>
        <a:xfrm>
          <a:off x="47334" y="2388513"/>
          <a:ext cx="1125729"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Webcam</a:t>
          </a:r>
        </a:p>
      </dsp:txBody>
      <dsp:txXfrm>
        <a:off x="68687" y="2409866"/>
        <a:ext cx="1083023" cy="686331"/>
      </dsp:txXfrm>
    </dsp:sp>
    <dsp:sp modelId="{E0000B58-A78E-4900-A1BA-8873BD71A711}">
      <dsp:nvSpPr>
        <dsp:cNvPr id="0" name=""/>
        <dsp:cNvSpPr/>
      </dsp:nvSpPr>
      <dsp:spPr>
        <a:xfrm>
          <a:off x="1422364" y="2666646"/>
          <a:ext cx="528516"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1422364" y="2701200"/>
        <a:ext cx="476685" cy="103663"/>
      </dsp:txXfrm>
    </dsp:sp>
    <dsp:sp modelId="{D7498838-A955-4606-9B90-883DDD3EFE6B}">
      <dsp:nvSpPr>
        <dsp:cNvPr id="0" name=""/>
        <dsp:cNvSpPr/>
      </dsp:nvSpPr>
      <dsp:spPr>
        <a:xfrm>
          <a:off x="2170264" y="2388513"/>
          <a:ext cx="1202974"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Face Detection</a:t>
          </a:r>
        </a:p>
      </dsp:txBody>
      <dsp:txXfrm>
        <a:off x="2191617" y="2409866"/>
        <a:ext cx="1160268" cy="686331"/>
      </dsp:txXfrm>
    </dsp:sp>
    <dsp:sp modelId="{1A2C5922-BD2E-4398-BEAD-25B1B1E2BB81}">
      <dsp:nvSpPr>
        <dsp:cNvPr id="0" name=""/>
        <dsp:cNvSpPr/>
      </dsp:nvSpPr>
      <dsp:spPr>
        <a:xfrm rot="30883">
          <a:off x="3548439" y="2675292"/>
          <a:ext cx="371453"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548440" y="2709613"/>
        <a:ext cx="319622" cy="103663"/>
      </dsp:txXfrm>
    </dsp:sp>
    <dsp:sp modelId="{7ACEA147-AFB3-4EA0-8E2C-D267FA99F159}">
      <dsp:nvSpPr>
        <dsp:cNvPr id="0" name=""/>
        <dsp:cNvSpPr/>
      </dsp:nvSpPr>
      <dsp:spPr>
        <a:xfrm>
          <a:off x="4074067" y="2407016"/>
          <a:ext cx="1514596"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Preprocessing</a:t>
          </a:r>
        </a:p>
      </dsp:txBody>
      <dsp:txXfrm>
        <a:off x="4095420" y="2428369"/>
        <a:ext cx="1471890" cy="686331"/>
      </dsp:txXfrm>
    </dsp:sp>
    <dsp:sp modelId="{F020B267-ED17-40B3-A8E1-08B40B8E4EA2}">
      <dsp:nvSpPr>
        <dsp:cNvPr id="0" name=""/>
        <dsp:cNvSpPr/>
      </dsp:nvSpPr>
      <dsp:spPr>
        <a:xfrm>
          <a:off x="5773119" y="2685149"/>
          <a:ext cx="391044"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5773119" y="2719703"/>
        <a:ext cx="339213" cy="103663"/>
      </dsp:txXfrm>
    </dsp:sp>
    <dsp:sp modelId="{BC1ABDEA-851F-42A4-9DA0-BDE1B5753E01}">
      <dsp:nvSpPr>
        <dsp:cNvPr id="0" name=""/>
        <dsp:cNvSpPr/>
      </dsp:nvSpPr>
      <dsp:spPr>
        <a:xfrm>
          <a:off x="6326483" y="2407016"/>
          <a:ext cx="1300841"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err="1"/>
            <a:t>ConvNeXt</a:t>
          </a:r>
          <a:r>
            <a:rPr lang="en-IN" sz="1800" kern="1200" dirty="0"/>
            <a:t>-Tiny</a:t>
          </a:r>
        </a:p>
      </dsp:txBody>
      <dsp:txXfrm>
        <a:off x="6347836" y="2428369"/>
        <a:ext cx="1258135" cy="686331"/>
      </dsp:txXfrm>
    </dsp:sp>
    <dsp:sp modelId="{4DC52068-B747-43D4-866D-8D046CC5152B}">
      <dsp:nvSpPr>
        <dsp:cNvPr id="0" name=""/>
        <dsp:cNvSpPr/>
      </dsp:nvSpPr>
      <dsp:spPr>
        <a:xfrm>
          <a:off x="7967771" y="2685149"/>
          <a:ext cx="721746"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7967771" y="2719703"/>
        <a:ext cx="669915" cy="103663"/>
      </dsp:txXfrm>
    </dsp:sp>
    <dsp:sp modelId="{AA49B04A-ECFB-4091-91B1-DE8A0568A35F}">
      <dsp:nvSpPr>
        <dsp:cNvPr id="0" name=""/>
        <dsp:cNvSpPr/>
      </dsp:nvSpPr>
      <dsp:spPr>
        <a:xfrm>
          <a:off x="8989110" y="2407016"/>
          <a:ext cx="1194810"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Temporal Smoothing</a:t>
          </a:r>
        </a:p>
      </dsp:txBody>
      <dsp:txXfrm>
        <a:off x="9010463" y="2428369"/>
        <a:ext cx="1152104" cy="686331"/>
      </dsp:txXfrm>
    </dsp:sp>
    <dsp:sp modelId="{AD9C6F66-29ED-402D-BE1B-3EF526B2B6BE}">
      <dsp:nvSpPr>
        <dsp:cNvPr id="0" name=""/>
        <dsp:cNvSpPr/>
      </dsp:nvSpPr>
      <dsp:spPr>
        <a:xfrm rot="8032760">
          <a:off x="8603279" y="3427289"/>
          <a:ext cx="539149"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rot="10800000">
        <a:off x="8647158" y="3443163"/>
        <a:ext cx="487318" cy="103663"/>
      </dsp:txXfrm>
    </dsp:sp>
    <dsp:sp modelId="{0C848E28-15DC-47FB-935A-451E4707C80E}">
      <dsp:nvSpPr>
        <dsp:cNvPr id="0" name=""/>
        <dsp:cNvSpPr/>
      </dsp:nvSpPr>
      <dsp:spPr>
        <a:xfrm>
          <a:off x="7505928" y="3869298"/>
          <a:ext cx="1348834"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Baseline Calibration</a:t>
          </a:r>
        </a:p>
      </dsp:txBody>
      <dsp:txXfrm>
        <a:off x="7527281" y="3890651"/>
        <a:ext cx="1306128" cy="686331"/>
      </dsp:txXfrm>
    </dsp:sp>
    <dsp:sp modelId="{FA6876D6-4057-46BF-9450-410A3FEE62A2}">
      <dsp:nvSpPr>
        <dsp:cNvPr id="0" name=""/>
        <dsp:cNvSpPr/>
      </dsp:nvSpPr>
      <dsp:spPr>
        <a:xfrm rot="10593546">
          <a:off x="6476646" y="4228819"/>
          <a:ext cx="700217"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rot="10800000">
        <a:off x="6528430" y="4261818"/>
        <a:ext cx="648386" cy="103663"/>
      </dsp:txXfrm>
    </dsp:sp>
    <dsp:sp modelId="{6402E552-8E14-4CD5-BFB5-64E5EBAA06C8}">
      <dsp:nvSpPr>
        <dsp:cNvPr id="0" name=""/>
        <dsp:cNvSpPr/>
      </dsp:nvSpPr>
      <dsp:spPr>
        <a:xfrm>
          <a:off x="5043017" y="4023540"/>
          <a:ext cx="1144128" cy="72903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Emotion Prediction</a:t>
          </a:r>
        </a:p>
      </dsp:txBody>
      <dsp:txXfrm>
        <a:off x="5064370" y="4044893"/>
        <a:ext cx="1101422" cy="686331"/>
      </dsp:txXfrm>
    </dsp:sp>
    <dsp:sp modelId="{4CABEC59-B26A-4F23-8CF9-839D513F5397}">
      <dsp:nvSpPr>
        <dsp:cNvPr id="0" name=""/>
        <dsp:cNvSpPr/>
      </dsp:nvSpPr>
      <dsp:spPr>
        <a:xfrm rot="10753281">
          <a:off x="4466784" y="4314619"/>
          <a:ext cx="391566" cy="1727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rot="10800000">
        <a:off x="4518613" y="4348821"/>
        <a:ext cx="339735" cy="103663"/>
      </dsp:txXfrm>
    </dsp:sp>
    <dsp:sp modelId="{F7C1007C-5123-4433-A9F5-F5B3D0250A0D}">
      <dsp:nvSpPr>
        <dsp:cNvPr id="0" name=""/>
        <dsp:cNvSpPr/>
      </dsp:nvSpPr>
      <dsp:spPr>
        <a:xfrm>
          <a:off x="2385636" y="4045149"/>
          <a:ext cx="1918644" cy="74752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Music Recommendation</a:t>
          </a:r>
        </a:p>
      </dsp:txBody>
      <dsp:txXfrm>
        <a:off x="2407530" y="4067043"/>
        <a:ext cx="1874856" cy="7037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2335893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642834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28021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5EDB05-0E67-447D-9730-766D960E3E40}"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895329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5EDB05-0E67-447D-9730-766D960E3E40}" type="datetimeFigureOut">
              <a:rPr lang="en-IN" smtClean="0"/>
              <a:t>10-06-2026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1759835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381458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1580022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160383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EDB05-0E67-447D-9730-766D960E3E40}"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1696885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EDB05-0E67-447D-9730-766D960E3E40}"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477845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1960125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72486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3439849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3446520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976202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1806522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EDB05-0E67-447D-9730-766D960E3E40}"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242B2-9B48-43A9-9559-BF16179662E6}" type="slidenum">
              <a:rPr lang="en-IN" smtClean="0"/>
              <a:t>‹#›</a:t>
            </a:fld>
            <a:endParaRPr lang="en-IN"/>
          </a:p>
        </p:txBody>
      </p:sp>
    </p:spTree>
    <p:extLst>
      <p:ext uri="{BB962C8B-B14F-4D97-AF65-F5344CB8AC3E}">
        <p14:creationId xmlns:p14="http://schemas.microsoft.com/office/powerpoint/2010/main" val="4267605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65EDB05-0E67-447D-9730-766D960E3E40}" type="datetimeFigureOut">
              <a:rPr lang="en-IN" smtClean="0"/>
              <a:t>10-06-2026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9A242B2-9B48-43A9-9559-BF16179662E6}" type="slidenum">
              <a:rPr lang="en-IN" smtClean="0"/>
              <a:t>‹#›</a:t>
            </a:fld>
            <a:endParaRPr lang="en-IN"/>
          </a:p>
        </p:txBody>
      </p:sp>
    </p:spTree>
    <p:extLst>
      <p:ext uri="{BB962C8B-B14F-4D97-AF65-F5344CB8AC3E}">
        <p14:creationId xmlns:p14="http://schemas.microsoft.com/office/powerpoint/2010/main" val="270589960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rontiersin.org/articles/10.3389/fpsyg.2015.00761/full"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111;p1" descr="C:\Users\Admin\Desktop\Logo_21.06.2017.jpg">
            <a:extLst>
              <a:ext uri="{FF2B5EF4-FFF2-40B4-BE49-F238E27FC236}">
                <a16:creationId xmlns:a16="http://schemas.microsoft.com/office/drawing/2014/main" id="{56842C9E-839A-5E03-036C-AE2DC38AB2F3}"/>
              </a:ext>
            </a:extLst>
          </p:cNvPr>
          <p:cNvPicPr preferRelativeResize="0"/>
          <p:nvPr/>
        </p:nvPicPr>
        <p:blipFill rotWithShape="1">
          <a:blip r:embed="rId2">
            <a:alphaModFix/>
          </a:blip>
          <a:srcRect/>
          <a:stretch/>
        </p:blipFill>
        <p:spPr>
          <a:xfrm>
            <a:off x="837083" y="408458"/>
            <a:ext cx="2378065" cy="1086045"/>
          </a:xfrm>
          <a:prstGeom prst="rect">
            <a:avLst/>
          </a:prstGeom>
          <a:noFill/>
          <a:ln>
            <a:noFill/>
          </a:ln>
        </p:spPr>
      </p:pic>
      <p:sp>
        <p:nvSpPr>
          <p:cNvPr id="7" name="TextBox 6">
            <a:extLst>
              <a:ext uri="{FF2B5EF4-FFF2-40B4-BE49-F238E27FC236}">
                <a16:creationId xmlns:a16="http://schemas.microsoft.com/office/drawing/2014/main" id="{9E0E0003-C06C-314E-1755-FF5184BAFF14}"/>
              </a:ext>
            </a:extLst>
          </p:cNvPr>
          <p:cNvSpPr txBox="1"/>
          <p:nvPr/>
        </p:nvSpPr>
        <p:spPr>
          <a:xfrm>
            <a:off x="3534025" y="599111"/>
            <a:ext cx="6952638" cy="461665"/>
          </a:xfrm>
          <a:prstGeom prst="rect">
            <a:avLst/>
          </a:prstGeom>
          <a:noFill/>
        </p:spPr>
        <p:txBody>
          <a:bodyPr wrap="square" rtlCol="0">
            <a:spAutoFit/>
          </a:bodyPr>
          <a:lstStyle/>
          <a:p>
            <a:pPr algn="ctr"/>
            <a:r>
              <a:rPr lang="en-IN" sz="2400" dirty="0">
                <a:latin typeface="Calibri" panose="020F0502020204030204" pitchFamily="34" charset="0"/>
                <a:ea typeface="Calibri" panose="020F0502020204030204" pitchFamily="34" charset="0"/>
                <a:cs typeface="Calibri" panose="020F0502020204030204" pitchFamily="34" charset="0"/>
              </a:rPr>
              <a:t>Department Of Information Science and Engineering</a:t>
            </a:r>
          </a:p>
        </p:txBody>
      </p:sp>
      <p:sp>
        <p:nvSpPr>
          <p:cNvPr id="8" name="TextBox 7">
            <a:extLst>
              <a:ext uri="{FF2B5EF4-FFF2-40B4-BE49-F238E27FC236}">
                <a16:creationId xmlns:a16="http://schemas.microsoft.com/office/drawing/2014/main" id="{ABD507D7-01D1-4398-19B9-F70656B689F6}"/>
              </a:ext>
            </a:extLst>
          </p:cNvPr>
          <p:cNvSpPr txBox="1"/>
          <p:nvPr/>
        </p:nvSpPr>
        <p:spPr>
          <a:xfrm>
            <a:off x="482322" y="2340542"/>
            <a:ext cx="11545555" cy="1384995"/>
          </a:xfrm>
          <a:prstGeom prst="rect">
            <a:avLst/>
          </a:prstGeom>
          <a:noFill/>
        </p:spPr>
        <p:txBody>
          <a:bodyPr wrap="square" rtlCol="0">
            <a:spAutoFit/>
          </a:bodyPr>
          <a:lstStyle/>
          <a:p>
            <a:r>
              <a:rPr lang="en-IN" sz="2800" b="1" dirty="0"/>
              <a:t>Emotion Companion: Personalized Real-Time Emotion Recognition</a:t>
            </a:r>
          </a:p>
          <a:p>
            <a:r>
              <a:rPr lang="en-IN" sz="2800" b="1" dirty="0"/>
              <a:t> and Adaptive Interaction System</a:t>
            </a:r>
            <a:endParaRPr lang="en-IN" sz="2800" dirty="0"/>
          </a:p>
          <a:p>
            <a:endParaRPr lang="en-IN" sz="2800" dirty="0"/>
          </a:p>
        </p:txBody>
      </p:sp>
      <p:graphicFrame>
        <p:nvGraphicFramePr>
          <p:cNvPr id="9" name="Table 8">
            <a:extLst>
              <a:ext uri="{FF2B5EF4-FFF2-40B4-BE49-F238E27FC236}">
                <a16:creationId xmlns:a16="http://schemas.microsoft.com/office/drawing/2014/main" id="{81CF88A7-1913-DDC9-90BD-846E829460F3}"/>
              </a:ext>
            </a:extLst>
          </p:cNvPr>
          <p:cNvGraphicFramePr>
            <a:graphicFrameLocks noGrp="1"/>
          </p:cNvGraphicFramePr>
          <p:nvPr>
            <p:extLst>
              <p:ext uri="{D42A27DB-BD31-4B8C-83A1-F6EECF244321}">
                <p14:modId xmlns:p14="http://schemas.microsoft.com/office/powerpoint/2010/main" val="3926522281"/>
              </p:ext>
            </p:extLst>
          </p:nvPr>
        </p:nvGraphicFramePr>
        <p:xfrm>
          <a:off x="675149" y="4374361"/>
          <a:ext cx="4408128" cy="1854200"/>
        </p:xfrm>
        <a:graphic>
          <a:graphicData uri="http://schemas.openxmlformats.org/drawingml/2006/table">
            <a:tbl>
              <a:tblPr firstRow="1" bandRow="1">
                <a:tableStyleId>{2D5ABB26-0587-4C30-8999-92F81FD0307C}</a:tableStyleId>
              </a:tblPr>
              <a:tblGrid>
                <a:gridCol w="2530167">
                  <a:extLst>
                    <a:ext uri="{9D8B030D-6E8A-4147-A177-3AD203B41FA5}">
                      <a16:colId xmlns:a16="http://schemas.microsoft.com/office/drawing/2014/main" val="1881918526"/>
                    </a:ext>
                  </a:extLst>
                </a:gridCol>
                <a:gridCol w="1877961">
                  <a:extLst>
                    <a:ext uri="{9D8B030D-6E8A-4147-A177-3AD203B41FA5}">
                      <a16:colId xmlns:a16="http://schemas.microsoft.com/office/drawing/2014/main" val="2166387665"/>
                    </a:ext>
                  </a:extLst>
                </a:gridCol>
              </a:tblGrid>
              <a:tr h="370840">
                <a:tc>
                  <a:txBody>
                    <a:bodyPr/>
                    <a:lstStyle/>
                    <a:p>
                      <a:r>
                        <a:rPr lang="en-IN"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USN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6437985"/>
                  </a:ext>
                </a:extLst>
              </a:tr>
              <a:tr h="370840">
                <a:tc>
                  <a:txBody>
                    <a:bodyPr/>
                    <a:lstStyle/>
                    <a:p>
                      <a:r>
                        <a:rPr lang="en-IN"/>
                        <a:t>Shreyas S G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1MS23IS118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330743"/>
                  </a:ext>
                </a:extLst>
              </a:tr>
              <a:tr h="370840">
                <a:tc>
                  <a:txBody>
                    <a:bodyPr/>
                    <a:lstStyle/>
                    <a:p>
                      <a:r>
                        <a:rPr lang="en-IN" dirty="0"/>
                        <a:t>Susheel Kumar Naik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1MS23IS132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9047255"/>
                  </a:ext>
                </a:extLst>
              </a:tr>
              <a:tr h="370840">
                <a:tc>
                  <a:txBody>
                    <a:bodyPr/>
                    <a:lstStyle/>
                    <a:p>
                      <a:r>
                        <a:rPr lang="en-IN" dirty="0"/>
                        <a:t>Thilak 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1MS23IS134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273652"/>
                  </a:ext>
                </a:extLst>
              </a:tr>
              <a:tr h="370840">
                <a:tc>
                  <a:txBody>
                    <a:bodyPr/>
                    <a:lstStyle/>
                    <a:p>
                      <a:r>
                        <a:rPr lang="en-IN" dirty="0"/>
                        <a:t>Varun 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1MS23IS141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1441246"/>
                  </a:ext>
                </a:extLst>
              </a:tr>
            </a:tbl>
          </a:graphicData>
        </a:graphic>
      </p:graphicFrame>
      <p:sp>
        <p:nvSpPr>
          <p:cNvPr id="10" name="TextBox 9">
            <a:extLst>
              <a:ext uri="{FF2B5EF4-FFF2-40B4-BE49-F238E27FC236}">
                <a16:creationId xmlns:a16="http://schemas.microsoft.com/office/drawing/2014/main" id="{DF526404-EFEE-369A-4380-67B22C906326}"/>
              </a:ext>
            </a:extLst>
          </p:cNvPr>
          <p:cNvSpPr txBox="1"/>
          <p:nvPr/>
        </p:nvSpPr>
        <p:spPr>
          <a:xfrm>
            <a:off x="675149" y="3865283"/>
            <a:ext cx="1755160" cy="369332"/>
          </a:xfrm>
          <a:prstGeom prst="rect">
            <a:avLst/>
          </a:prstGeom>
          <a:noFill/>
        </p:spPr>
        <p:txBody>
          <a:bodyPr wrap="non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Team Members :</a:t>
            </a:r>
          </a:p>
        </p:txBody>
      </p:sp>
      <p:sp>
        <p:nvSpPr>
          <p:cNvPr id="11" name="TextBox 10">
            <a:extLst>
              <a:ext uri="{FF2B5EF4-FFF2-40B4-BE49-F238E27FC236}">
                <a16:creationId xmlns:a16="http://schemas.microsoft.com/office/drawing/2014/main" id="{3BBBE8B5-01B3-2842-4114-1E13A5C02888}"/>
              </a:ext>
            </a:extLst>
          </p:cNvPr>
          <p:cNvSpPr txBox="1"/>
          <p:nvPr/>
        </p:nvSpPr>
        <p:spPr>
          <a:xfrm>
            <a:off x="7964129" y="4231527"/>
            <a:ext cx="2926442" cy="923330"/>
          </a:xfrm>
          <a:prstGeom prst="rect">
            <a:avLst/>
          </a:prstGeom>
          <a:noFill/>
        </p:spPr>
        <p:txBody>
          <a:bodyPr wrap="non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Guided By : </a:t>
            </a:r>
          </a:p>
          <a:p>
            <a:r>
              <a:rPr lang="en-IN" dirty="0">
                <a:latin typeface="Calibri" panose="020F0502020204030204" pitchFamily="34" charset="0"/>
                <a:ea typeface="Calibri" panose="020F0502020204030204" pitchFamily="34" charset="0"/>
                <a:cs typeface="Calibri" panose="020F0502020204030204" pitchFamily="34" charset="0"/>
              </a:rPr>
              <a:t>         	Shruthi J R</a:t>
            </a:r>
          </a:p>
          <a:p>
            <a:r>
              <a:rPr lang="en-IN" dirty="0">
                <a:latin typeface="Calibri" panose="020F0502020204030204" pitchFamily="34" charset="0"/>
                <a:ea typeface="Calibri" panose="020F0502020204030204" pitchFamily="34" charset="0"/>
                <a:cs typeface="Calibri" panose="020F0502020204030204" pitchFamily="34" charset="0"/>
              </a:rPr>
              <a:t>		Assistant Professor </a:t>
            </a:r>
          </a:p>
        </p:txBody>
      </p:sp>
      <p:sp>
        <p:nvSpPr>
          <p:cNvPr id="12" name="TextBox 11">
            <a:extLst>
              <a:ext uri="{FF2B5EF4-FFF2-40B4-BE49-F238E27FC236}">
                <a16:creationId xmlns:a16="http://schemas.microsoft.com/office/drawing/2014/main" id="{F7E7047F-3A77-B4C4-CC62-08DA834440BD}"/>
              </a:ext>
            </a:extLst>
          </p:cNvPr>
          <p:cNvSpPr txBox="1"/>
          <p:nvPr/>
        </p:nvSpPr>
        <p:spPr>
          <a:xfrm>
            <a:off x="4379963" y="1431355"/>
            <a:ext cx="3750271" cy="584775"/>
          </a:xfrm>
          <a:prstGeom prst="rect">
            <a:avLst/>
          </a:prstGeom>
          <a:noFill/>
        </p:spPr>
        <p:txBody>
          <a:bodyPr wrap="square" rtlCol="0">
            <a:spAutoFit/>
          </a:bodyPr>
          <a:lstStyle/>
          <a:p>
            <a:r>
              <a:rPr lang="en-IN" sz="3200" b="1" dirty="0"/>
              <a:t>Mini Project (ISP67)</a:t>
            </a:r>
          </a:p>
        </p:txBody>
      </p:sp>
    </p:spTree>
    <p:extLst>
      <p:ext uri="{BB962C8B-B14F-4D97-AF65-F5344CB8AC3E}">
        <p14:creationId xmlns:p14="http://schemas.microsoft.com/office/powerpoint/2010/main" val="1346902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A318-3272-742D-CFFC-B8AB3E234261}"/>
              </a:ext>
            </a:extLst>
          </p:cNvPr>
          <p:cNvSpPr>
            <a:spLocks noGrp="1"/>
          </p:cNvSpPr>
          <p:nvPr>
            <p:ph type="title"/>
          </p:nvPr>
        </p:nvSpPr>
        <p:spPr>
          <a:xfrm>
            <a:off x="203660" y="38885"/>
            <a:ext cx="9404723" cy="1400530"/>
          </a:xfrm>
        </p:spPr>
        <p:txBody>
          <a:bodyPr/>
          <a:lstStyle/>
          <a:p>
            <a:r>
              <a:rPr lang="en-IN" dirty="0"/>
              <a:t>Introduction</a:t>
            </a:r>
          </a:p>
        </p:txBody>
      </p:sp>
      <p:sp>
        <p:nvSpPr>
          <p:cNvPr id="3" name="Content Placeholder 2">
            <a:extLst>
              <a:ext uri="{FF2B5EF4-FFF2-40B4-BE49-F238E27FC236}">
                <a16:creationId xmlns:a16="http://schemas.microsoft.com/office/drawing/2014/main" id="{857CD11B-F4E0-0A63-1DB7-1F3A13F5A1FA}"/>
              </a:ext>
            </a:extLst>
          </p:cNvPr>
          <p:cNvSpPr>
            <a:spLocks noGrp="1"/>
          </p:cNvSpPr>
          <p:nvPr>
            <p:ph idx="1"/>
          </p:nvPr>
        </p:nvSpPr>
        <p:spPr>
          <a:xfrm>
            <a:off x="882086" y="739150"/>
            <a:ext cx="9996326" cy="5826625"/>
          </a:xfrm>
        </p:spPr>
        <p:txBody>
          <a:bodyPr>
            <a:noAutofit/>
          </a:bodyPr>
          <a:lstStyle/>
          <a:p>
            <a:pPr>
              <a:lnSpc>
                <a:spcPct val="150000"/>
              </a:lnSpc>
            </a:pPr>
            <a:r>
              <a:rPr lang="en-US" dirty="0"/>
              <a:t>Facial Emotion Recognition (FER) is a computer vision application that identifies human emotions from facial expressions.</a:t>
            </a:r>
          </a:p>
          <a:p>
            <a:pPr>
              <a:lnSpc>
                <a:spcPct val="150000"/>
              </a:lnSpc>
            </a:pPr>
            <a:r>
              <a:rPr lang="en-US" dirty="0"/>
              <a:t>Emotion recognition plays an important role in human-computer interaction, healthcare, education, and entertainment systems.</a:t>
            </a:r>
          </a:p>
          <a:p>
            <a:pPr>
              <a:lnSpc>
                <a:spcPct val="150000"/>
              </a:lnSpc>
            </a:pPr>
            <a:r>
              <a:rPr lang="en-US" dirty="0"/>
              <a:t>Traditional systems often suffer from unstable predictions due to lighting variations, facial movements, and individual expression differences.</a:t>
            </a:r>
          </a:p>
          <a:p>
            <a:pPr>
              <a:lnSpc>
                <a:spcPct val="150000"/>
              </a:lnSpc>
            </a:pPr>
            <a:r>
              <a:rPr lang="en-US" dirty="0"/>
              <a:t>This project proposes a Baseline-Aware Temporal Facial Emotion Recognition system using </a:t>
            </a:r>
            <a:r>
              <a:rPr lang="en-US" dirty="0" err="1"/>
              <a:t>ConvNeXt</a:t>
            </a:r>
            <a:r>
              <a:rPr lang="en-US" dirty="0"/>
              <a:t>-Tiny for accurate and stable real-time emotion detection.</a:t>
            </a:r>
          </a:p>
          <a:p>
            <a:pPr>
              <a:lnSpc>
                <a:spcPct val="150000"/>
              </a:lnSpc>
            </a:pPr>
            <a:r>
              <a:rPr lang="en-US" dirty="0"/>
              <a:t>The system integrates OpenCV face detection, temporal probability smoothing, baseline calibration, and emotion-based music recommendation.</a:t>
            </a:r>
            <a:endParaRPr lang="en-IN" dirty="0"/>
          </a:p>
        </p:txBody>
      </p:sp>
    </p:spTree>
    <p:extLst>
      <p:ext uri="{BB962C8B-B14F-4D97-AF65-F5344CB8AC3E}">
        <p14:creationId xmlns:p14="http://schemas.microsoft.com/office/powerpoint/2010/main" val="1681711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612563-933C-ADB8-2099-744C83EE80D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67886" y="556968"/>
            <a:ext cx="7656227" cy="5744063"/>
          </a:xfrm>
          <a:prstGeom prst="rect">
            <a:avLst/>
          </a:prstGeom>
        </p:spPr>
      </p:pic>
    </p:spTree>
    <p:extLst>
      <p:ext uri="{BB962C8B-B14F-4D97-AF65-F5344CB8AC3E}">
        <p14:creationId xmlns:p14="http://schemas.microsoft.com/office/powerpoint/2010/main" val="52017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E6387-F559-F257-8E35-3A602531B95E}"/>
              </a:ext>
            </a:extLst>
          </p:cNvPr>
          <p:cNvSpPr>
            <a:spLocks noGrp="1"/>
          </p:cNvSpPr>
          <p:nvPr>
            <p:ph type="title"/>
          </p:nvPr>
        </p:nvSpPr>
        <p:spPr>
          <a:xfrm>
            <a:off x="646111" y="452718"/>
            <a:ext cx="9404723" cy="795979"/>
          </a:xfrm>
        </p:spPr>
        <p:txBody>
          <a:bodyPr/>
          <a:lstStyle/>
          <a:p>
            <a:r>
              <a:rPr lang="en-IN" dirty="0"/>
              <a:t>Problem Statement</a:t>
            </a:r>
          </a:p>
        </p:txBody>
      </p:sp>
      <p:sp>
        <p:nvSpPr>
          <p:cNvPr id="3" name="Content Placeholder 2">
            <a:extLst>
              <a:ext uri="{FF2B5EF4-FFF2-40B4-BE49-F238E27FC236}">
                <a16:creationId xmlns:a16="http://schemas.microsoft.com/office/drawing/2014/main" id="{E54793A4-F669-F7D2-3590-FA1876C9B457}"/>
              </a:ext>
            </a:extLst>
          </p:cNvPr>
          <p:cNvSpPr>
            <a:spLocks noGrp="1"/>
          </p:cNvSpPr>
          <p:nvPr>
            <p:ph idx="1"/>
          </p:nvPr>
        </p:nvSpPr>
        <p:spPr>
          <a:xfrm>
            <a:off x="1309230" y="1685221"/>
            <a:ext cx="9573539" cy="3260405"/>
          </a:xfrm>
        </p:spPr>
        <p:txBody>
          <a:bodyPr/>
          <a:lstStyle/>
          <a:p>
            <a:pPr marL="0" indent="0" algn="just">
              <a:lnSpc>
                <a:spcPct val="150000"/>
              </a:lnSpc>
              <a:buNone/>
            </a:pPr>
            <a:r>
              <a:rPr lang="en-US" dirty="0"/>
              <a:t>Facial Emotion Recognition systems play an important role in human-computer interaction and intelligent applications. However, existing systems often suffer from prediction instability due to lighting variations, facial movements, and differences in individual expression patterns. These limitations can affect recognition accuracy and user experience in real-time applications. Therefore, there is a need for a stable and personalized emotion recognition system capable of providing reliable real-time emotion prediction.</a:t>
            </a:r>
            <a:endParaRPr lang="en-IN" dirty="0"/>
          </a:p>
        </p:txBody>
      </p:sp>
    </p:spTree>
    <p:extLst>
      <p:ext uri="{BB962C8B-B14F-4D97-AF65-F5344CB8AC3E}">
        <p14:creationId xmlns:p14="http://schemas.microsoft.com/office/powerpoint/2010/main" val="3462922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5FF9-249B-1499-7238-501BFCE8A08B}"/>
              </a:ext>
            </a:extLst>
          </p:cNvPr>
          <p:cNvSpPr>
            <a:spLocks noGrp="1"/>
          </p:cNvSpPr>
          <p:nvPr>
            <p:ph type="title"/>
          </p:nvPr>
        </p:nvSpPr>
        <p:spPr/>
        <p:txBody>
          <a:bodyPr/>
          <a:lstStyle/>
          <a:p>
            <a:r>
              <a:rPr lang="en-IN" dirty="0"/>
              <a:t>Motivation and Scope</a:t>
            </a:r>
          </a:p>
        </p:txBody>
      </p:sp>
      <p:sp>
        <p:nvSpPr>
          <p:cNvPr id="3" name="Content Placeholder 2">
            <a:extLst>
              <a:ext uri="{FF2B5EF4-FFF2-40B4-BE49-F238E27FC236}">
                <a16:creationId xmlns:a16="http://schemas.microsoft.com/office/drawing/2014/main" id="{CF5C9EA1-6CD1-11CD-0594-17F4911AB334}"/>
              </a:ext>
            </a:extLst>
          </p:cNvPr>
          <p:cNvSpPr>
            <a:spLocks noGrp="1"/>
          </p:cNvSpPr>
          <p:nvPr>
            <p:ph idx="1"/>
          </p:nvPr>
        </p:nvSpPr>
        <p:spPr>
          <a:xfrm>
            <a:off x="1104293" y="1580970"/>
            <a:ext cx="8946541" cy="4195481"/>
          </a:xfrm>
        </p:spPr>
        <p:txBody>
          <a:bodyPr>
            <a:noAutofit/>
          </a:bodyPr>
          <a:lstStyle/>
          <a:p>
            <a:pPr algn="just">
              <a:lnSpc>
                <a:spcPct val="170000"/>
              </a:lnSpc>
            </a:pPr>
            <a:r>
              <a:rPr lang="en-US" dirty="0"/>
              <a:t>Growing demand for intelligent systems that can understand human emotions.</a:t>
            </a:r>
          </a:p>
          <a:p>
            <a:pPr algn="just">
              <a:lnSpc>
                <a:spcPct val="170000"/>
              </a:lnSpc>
            </a:pPr>
            <a:r>
              <a:rPr lang="en-US" dirty="0"/>
              <a:t>Need for stable and accurate real-time emotion recognition.</a:t>
            </a:r>
          </a:p>
          <a:p>
            <a:pPr algn="just">
              <a:lnSpc>
                <a:spcPct val="170000"/>
              </a:lnSpc>
            </a:pPr>
            <a:r>
              <a:rPr lang="en-US" dirty="0"/>
              <a:t>Requirement for personalized emotion analysis based on individual expression patterns.</a:t>
            </a:r>
          </a:p>
          <a:p>
            <a:pPr algn="just">
              <a:lnSpc>
                <a:spcPct val="170000"/>
              </a:lnSpc>
            </a:pPr>
            <a:r>
              <a:rPr lang="en-US" dirty="0"/>
              <a:t>Integration of emotion recognition with practical applications such as music recommendation.</a:t>
            </a:r>
          </a:p>
          <a:p>
            <a:pPr algn="just">
              <a:lnSpc>
                <a:spcPct val="170000"/>
              </a:lnSpc>
            </a:pPr>
            <a:r>
              <a:rPr lang="en-US" dirty="0"/>
              <a:t>Development of a web-based system for real-time emotion monitoring and interaction.</a:t>
            </a:r>
            <a:endParaRPr lang="en-IN" dirty="0"/>
          </a:p>
        </p:txBody>
      </p:sp>
    </p:spTree>
    <p:extLst>
      <p:ext uri="{BB962C8B-B14F-4D97-AF65-F5344CB8AC3E}">
        <p14:creationId xmlns:p14="http://schemas.microsoft.com/office/powerpoint/2010/main" val="2782262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D27BA-3F7B-3AA0-BE84-017873E00B5A}"/>
              </a:ext>
            </a:extLst>
          </p:cNvPr>
          <p:cNvSpPr>
            <a:spLocks noGrp="1"/>
          </p:cNvSpPr>
          <p:nvPr>
            <p:ph type="title"/>
          </p:nvPr>
        </p:nvSpPr>
        <p:spPr>
          <a:xfrm>
            <a:off x="646111" y="452718"/>
            <a:ext cx="9404723" cy="776314"/>
          </a:xfrm>
        </p:spPr>
        <p:txBody>
          <a:bodyPr/>
          <a:lstStyle/>
          <a:p>
            <a:r>
              <a:rPr lang="en-IN" dirty="0"/>
              <a:t>Objectives</a:t>
            </a:r>
          </a:p>
        </p:txBody>
      </p:sp>
      <p:sp>
        <p:nvSpPr>
          <p:cNvPr id="3" name="Content Placeholder 2">
            <a:extLst>
              <a:ext uri="{FF2B5EF4-FFF2-40B4-BE49-F238E27FC236}">
                <a16:creationId xmlns:a16="http://schemas.microsoft.com/office/drawing/2014/main" id="{366EBCDC-13AE-1F2F-076B-146CC3305947}"/>
              </a:ext>
            </a:extLst>
          </p:cNvPr>
          <p:cNvSpPr>
            <a:spLocks noGrp="1"/>
          </p:cNvSpPr>
          <p:nvPr>
            <p:ph idx="1"/>
          </p:nvPr>
        </p:nvSpPr>
        <p:spPr>
          <a:xfrm>
            <a:off x="1104293" y="1331259"/>
            <a:ext cx="8946541" cy="4195481"/>
          </a:xfrm>
        </p:spPr>
        <p:txBody>
          <a:bodyPr>
            <a:normAutofit/>
          </a:bodyPr>
          <a:lstStyle/>
          <a:p>
            <a:pPr>
              <a:lnSpc>
                <a:spcPct val="150000"/>
              </a:lnSpc>
            </a:pPr>
            <a:r>
              <a:rPr lang="en-US" dirty="0"/>
              <a:t>To develop a real-time facial emotion recognition system using OpenCV and </a:t>
            </a:r>
            <a:r>
              <a:rPr lang="en-US" dirty="0" err="1"/>
              <a:t>ConvNeXt</a:t>
            </a:r>
            <a:r>
              <a:rPr lang="en-US" dirty="0"/>
              <a:t>-Tiny.</a:t>
            </a:r>
          </a:p>
          <a:p>
            <a:pPr>
              <a:lnSpc>
                <a:spcPct val="150000"/>
              </a:lnSpc>
            </a:pPr>
            <a:r>
              <a:rPr lang="en-US" dirty="0"/>
              <a:t>To improve prediction stability through temporal probability smoothing.</a:t>
            </a:r>
          </a:p>
          <a:p>
            <a:pPr>
              <a:lnSpc>
                <a:spcPct val="150000"/>
              </a:lnSpc>
            </a:pPr>
            <a:r>
              <a:rPr lang="en-US" dirty="0"/>
              <a:t>To implement baseline-aware emotion calibration for personalized emotion analysis.</a:t>
            </a:r>
          </a:p>
          <a:p>
            <a:pPr>
              <a:lnSpc>
                <a:spcPct val="150000"/>
              </a:lnSpc>
            </a:pPr>
            <a:r>
              <a:rPr lang="en-US" dirty="0"/>
              <a:t>To provide emotion-based music recommendations through an interactive web application.</a:t>
            </a:r>
            <a:endParaRPr lang="en-IN" dirty="0"/>
          </a:p>
        </p:txBody>
      </p:sp>
    </p:spTree>
    <p:extLst>
      <p:ext uri="{BB962C8B-B14F-4D97-AF65-F5344CB8AC3E}">
        <p14:creationId xmlns:p14="http://schemas.microsoft.com/office/powerpoint/2010/main" val="119954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9DCD8-A129-974C-8098-FA029D3170EE}"/>
              </a:ext>
            </a:extLst>
          </p:cNvPr>
          <p:cNvSpPr>
            <a:spLocks noGrp="1"/>
          </p:cNvSpPr>
          <p:nvPr>
            <p:ph type="title"/>
          </p:nvPr>
        </p:nvSpPr>
        <p:spPr>
          <a:xfrm>
            <a:off x="0" y="0"/>
            <a:ext cx="9404723" cy="776314"/>
          </a:xfrm>
        </p:spPr>
        <p:txBody>
          <a:bodyPr/>
          <a:lstStyle/>
          <a:p>
            <a:r>
              <a:rPr lang="en-IN" dirty="0"/>
              <a:t>Literature Survey</a:t>
            </a:r>
          </a:p>
        </p:txBody>
      </p:sp>
      <p:graphicFrame>
        <p:nvGraphicFramePr>
          <p:cNvPr id="4" name="Table 3">
            <a:extLst>
              <a:ext uri="{FF2B5EF4-FFF2-40B4-BE49-F238E27FC236}">
                <a16:creationId xmlns:a16="http://schemas.microsoft.com/office/drawing/2014/main" id="{2DCEFCAD-66F8-2D05-A189-E674035BE8CD}"/>
              </a:ext>
            </a:extLst>
          </p:cNvPr>
          <p:cNvGraphicFramePr>
            <a:graphicFrameLocks noGrp="1"/>
          </p:cNvGraphicFramePr>
          <p:nvPr>
            <p:extLst>
              <p:ext uri="{D42A27DB-BD31-4B8C-83A1-F6EECF244321}">
                <p14:modId xmlns:p14="http://schemas.microsoft.com/office/powerpoint/2010/main" val="3502687568"/>
              </p:ext>
            </p:extLst>
          </p:nvPr>
        </p:nvGraphicFramePr>
        <p:xfrm>
          <a:off x="127322" y="1226916"/>
          <a:ext cx="11771454" cy="4064736"/>
        </p:xfrm>
        <a:graphic>
          <a:graphicData uri="http://schemas.openxmlformats.org/drawingml/2006/table">
            <a:tbl>
              <a:tblPr firstRow="1">
                <a:tableStyleId>{2D5ABB26-0587-4C30-8999-92F81FD0307C}</a:tableStyleId>
              </a:tblPr>
              <a:tblGrid>
                <a:gridCol w="2372810">
                  <a:extLst>
                    <a:ext uri="{9D8B030D-6E8A-4147-A177-3AD203B41FA5}">
                      <a16:colId xmlns:a16="http://schemas.microsoft.com/office/drawing/2014/main" val="2907959121"/>
                    </a:ext>
                  </a:extLst>
                </a:gridCol>
                <a:gridCol w="2349661">
                  <a:extLst>
                    <a:ext uri="{9D8B030D-6E8A-4147-A177-3AD203B41FA5}">
                      <a16:colId xmlns:a16="http://schemas.microsoft.com/office/drawing/2014/main" val="1075004247"/>
                    </a:ext>
                  </a:extLst>
                </a:gridCol>
                <a:gridCol w="2349661">
                  <a:extLst>
                    <a:ext uri="{9D8B030D-6E8A-4147-A177-3AD203B41FA5}">
                      <a16:colId xmlns:a16="http://schemas.microsoft.com/office/drawing/2014/main" val="3941593227"/>
                    </a:ext>
                  </a:extLst>
                </a:gridCol>
                <a:gridCol w="2349661">
                  <a:extLst>
                    <a:ext uri="{9D8B030D-6E8A-4147-A177-3AD203B41FA5}">
                      <a16:colId xmlns:a16="http://schemas.microsoft.com/office/drawing/2014/main" val="1435843417"/>
                    </a:ext>
                  </a:extLst>
                </a:gridCol>
                <a:gridCol w="2349661">
                  <a:extLst>
                    <a:ext uri="{9D8B030D-6E8A-4147-A177-3AD203B41FA5}">
                      <a16:colId xmlns:a16="http://schemas.microsoft.com/office/drawing/2014/main" val="4220787671"/>
                    </a:ext>
                  </a:extLst>
                </a:gridCol>
              </a:tblGrid>
              <a:tr h="211020">
                <a:tc>
                  <a:txBody>
                    <a:bodyPr/>
                    <a:lstStyle/>
                    <a:p>
                      <a:pPr>
                        <a:buNone/>
                      </a:pPr>
                      <a:r>
                        <a:rPr lang="en-IN" sz="2000" dirty="0"/>
                        <a:t>Authors</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Paper Title</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Method Used</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Accuracy</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Limitation</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8129974"/>
                  </a:ext>
                </a:extLst>
              </a:tr>
              <a:tr h="1159925">
                <a:tc>
                  <a:txBody>
                    <a:bodyPr/>
                    <a:lstStyle/>
                    <a:p>
                      <a:pPr>
                        <a:buNone/>
                      </a:pPr>
                      <a:r>
                        <a:rPr lang="en-IN" sz="2000" b="1" dirty="0"/>
                        <a:t>Aryan Al </a:t>
                      </a:r>
                      <a:r>
                        <a:rPr lang="en-IN" sz="2000" b="1" dirty="0" err="1"/>
                        <a:t>Zadjali</a:t>
                      </a:r>
                      <a:r>
                        <a:rPr lang="en-IN" sz="2000" b="1" dirty="0"/>
                        <a:t>, Abdullah Al Balushi, Mahmood Al </a:t>
                      </a:r>
                      <a:r>
                        <a:rPr lang="en-IN" sz="2000" b="1" dirty="0" err="1"/>
                        <a:t>Mahrooqi</a:t>
                      </a:r>
                      <a:r>
                        <a:rPr lang="en-IN" sz="2000" b="1" dirty="0"/>
                        <a:t> et al. (2026)</a:t>
                      </a:r>
                      <a:endParaRPr lang="en-IN" sz="2000" dirty="0"/>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Face Detection and Emotion Recognition Using Convolutional Neural Network</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CNN with Batch Normalization, Dropout and Data Augmentation</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~70% Validation Accuracy</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Difficulty distinguishing similar emotions such as Fear and Surprise; slight overfitting observed.</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708257"/>
                  </a:ext>
                </a:extLst>
              </a:tr>
              <a:tr h="1159925">
                <a:tc>
                  <a:txBody>
                    <a:bodyPr/>
                    <a:lstStyle/>
                    <a:p>
                      <a:pPr>
                        <a:buNone/>
                      </a:pPr>
                      <a:r>
                        <a:rPr lang="en-IN" sz="2000" b="1" dirty="0"/>
                        <a:t>Abdoul Malik, Selvakumar J., Srikanth Reddy et al. (2025)</a:t>
                      </a:r>
                      <a:endParaRPr lang="en-IN" sz="2000" dirty="0"/>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Deep Learning for Facial Emotion Recognition on the FER-2013 Dataset using the ResNet50v2 Model</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ResNet50V2 Transfer Learning with Data Augmentation</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69% Test Accuracy</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High computational complexity and reduced performance on minority emotion classes.</a:t>
                      </a:r>
                    </a:p>
                  </a:txBody>
                  <a:tcPr marL="34112" marR="34112" marT="17056" marB="170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5624338"/>
                  </a:ext>
                </a:extLst>
              </a:tr>
            </a:tbl>
          </a:graphicData>
        </a:graphic>
      </p:graphicFrame>
    </p:spTree>
    <p:extLst>
      <p:ext uri="{BB962C8B-B14F-4D97-AF65-F5344CB8AC3E}">
        <p14:creationId xmlns:p14="http://schemas.microsoft.com/office/powerpoint/2010/main" val="260249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D34A-573A-EEF7-C5EB-7631FDF051A7}"/>
              </a:ext>
            </a:extLst>
          </p:cNvPr>
          <p:cNvSpPr>
            <a:spLocks noGrp="1"/>
          </p:cNvSpPr>
          <p:nvPr>
            <p:ph type="title"/>
          </p:nvPr>
        </p:nvSpPr>
        <p:spPr>
          <a:xfrm>
            <a:off x="0" y="0"/>
            <a:ext cx="9404723" cy="1400530"/>
          </a:xfrm>
        </p:spPr>
        <p:txBody>
          <a:bodyPr/>
          <a:lstStyle/>
          <a:p>
            <a:r>
              <a:rPr lang="en-IN" dirty="0"/>
              <a:t>Literature Survey</a:t>
            </a:r>
          </a:p>
        </p:txBody>
      </p:sp>
      <p:graphicFrame>
        <p:nvGraphicFramePr>
          <p:cNvPr id="12" name="Table 11">
            <a:extLst>
              <a:ext uri="{FF2B5EF4-FFF2-40B4-BE49-F238E27FC236}">
                <a16:creationId xmlns:a16="http://schemas.microsoft.com/office/drawing/2014/main" id="{C1E5DABF-8999-44A3-1E84-70F831DC7D20}"/>
              </a:ext>
            </a:extLst>
          </p:cNvPr>
          <p:cNvGraphicFramePr>
            <a:graphicFrameLocks noGrp="1"/>
          </p:cNvGraphicFramePr>
          <p:nvPr>
            <p:extLst>
              <p:ext uri="{D42A27DB-BD31-4B8C-83A1-F6EECF244321}">
                <p14:modId xmlns:p14="http://schemas.microsoft.com/office/powerpoint/2010/main" val="10782901"/>
              </p:ext>
            </p:extLst>
          </p:nvPr>
        </p:nvGraphicFramePr>
        <p:xfrm>
          <a:off x="427490" y="999342"/>
          <a:ext cx="11337020" cy="4115904"/>
        </p:xfrm>
        <a:graphic>
          <a:graphicData uri="http://schemas.openxmlformats.org/drawingml/2006/table">
            <a:tbl>
              <a:tblPr firstRow="1">
                <a:tableStyleId>{2D5ABB26-0587-4C30-8999-92F81FD0307C}</a:tableStyleId>
              </a:tblPr>
              <a:tblGrid>
                <a:gridCol w="2267404">
                  <a:extLst>
                    <a:ext uri="{9D8B030D-6E8A-4147-A177-3AD203B41FA5}">
                      <a16:colId xmlns:a16="http://schemas.microsoft.com/office/drawing/2014/main" val="3522380444"/>
                    </a:ext>
                  </a:extLst>
                </a:gridCol>
                <a:gridCol w="2267404">
                  <a:extLst>
                    <a:ext uri="{9D8B030D-6E8A-4147-A177-3AD203B41FA5}">
                      <a16:colId xmlns:a16="http://schemas.microsoft.com/office/drawing/2014/main" val="1297025211"/>
                    </a:ext>
                  </a:extLst>
                </a:gridCol>
                <a:gridCol w="2267404">
                  <a:extLst>
                    <a:ext uri="{9D8B030D-6E8A-4147-A177-3AD203B41FA5}">
                      <a16:colId xmlns:a16="http://schemas.microsoft.com/office/drawing/2014/main" val="1757486970"/>
                    </a:ext>
                  </a:extLst>
                </a:gridCol>
                <a:gridCol w="2267404">
                  <a:extLst>
                    <a:ext uri="{9D8B030D-6E8A-4147-A177-3AD203B41FA5}">
                      <a16:colId xmlns:a16="http://schemas.microsoft.com/office/drawing/2014/main" val="2038101644"/>
                    </a:ext>
                  </a:extLst>
                </a:gridCol>
                <a:gridCol w="2267404">
                  <a:extLst>
                    <a:ext uri="{9D8B030D-6E8A-4147-A177-3AD203B41FA5}">
                      <a16:colId xmlns:a16="http://schemas.microsoft.com/office/drawing/2014/main" val="227451184"/>
                    </a:ext>
                  </a:extLst>
                </a:gridCol>
              </a:tblGrid>
              <a:tr h="204671">
                <a:tc>
                  <a:txBody>
                    <a:bodyPr/>
                    <a:lstStyle/>
                    <a:p>
                      <a:pPr>
                        <a:buNone/>
                      </a:pPr>
                      <a:r>
                        <a:rPr lang="en-IN" sz="2000" dirty="0"/>
                        <a:t>Authors</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Paper Title</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Method Used</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Accuracy</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Limitation</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411917"/>
                  </a:ext>
                </a:extLst>
              </a:tr>
              <a:tr h="1279196">
                <a:tc>
                  <a:txBody>
                    <a:bodyPr/>
                    <a:lstStyle/>
                    <a:p>
                      <a:pPr>
                        <a:buNone/>
                      </a:pPr>
                      <a:r>
                        <a:rPr lang="en-IN" sz="2000" b="1" dirty="0"/>
                        <a:t>Sahil Naik, Varun T. K., Chandan M. et al. (2026)</a:t>
                      </a:r>
                      <a:endParaRPr lang="en-IN" sz="2000" dirty="0"/>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Facial Emotion Recognition on FER-2013 using an EfficientNetB2-Based Approach</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EfficientNetB2 with Fine-Tuning, AdamW Optimizer and Label Smoothing</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b="0" dirty="0"/>
                        <a:t>68.78% Test Accuracy</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Confusion between Fear–Surprise and Sad–Neutral classes due to subtle facial expression similarities.</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6871874"/>
                  </a:ext>
                </a:extLst>
              </a:tr>
              <a:tr h="1125692">
                <a:tc>
                  <a:txBody>
                    <a:bodyPr/>
                    <a:lstStyle/>
                    <a:p>
                      <a:pPr>
                        <a:buNone/>
                      </a:pPr>
                      <a:r>
                        <a:rPr lang="en-IN" sz="2000" b="1"/>
                        <a:t>Muhammad Al Faris Syabil, Lailan Sofinah Harahap, Muhammad Rafiq Nasution (2026)</a:t>
                      </a:r>
                      <a:endParaRPr lang="en-IN" sz="2000"/>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Facial Emotion Recognition Based on Convolutional Neural Network Using FER2013 Dataset</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Baseline CNN with Early Stopping</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b="0" dirty="0"/>
                        <a:t>55.50% Test Accuracy</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Poor recognition of minority classes such as Disgust and Fear because of dataset imbalance.</a:t>
                      </a:r>
                    </a:p>
                  </a:txBody>
                  <a:tcPr marL="51168" marR="51168" marT="25584" marB="25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3952148"/>
                  </a:ext>
                </a:extLst>
              </a:tr>
            </a:tbl>
          </a:graphicData>
        </a:graphic>
      </p:graphicFrame>
    </p:spTree>
    <p:extLst>
      <p:ext uri="{BB962C8B-B14F-4D97-AF65-F5344CB8AC3E}">
        <p14:creationId xmlns:p14="http://schemas.microsoft.com/office/powerpoint/2010/main" val="1263380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9D7B1-A69B-08C0-6D38-EEF5D8436417}"/>
              </a:ext>
            </a:extLst>
          </p:cNvPr>
          <p:cNvSpPr>
            <a:spLocks noGrp="1"/>
          </p:cNvSpPr>
          <p:nvPr>
            <p:ph type="title"/>
          </p:nvPr>
        </p:nvSpPr>
        <p:spPr>
          <a:xfrm>
            <a:off x="331478" y="167583"/>
            <a:ext cx="9404723" cy="963127"/>
          </a:xfrm>
        </p:spPr>
        <p:txBody>
          <a:bodyPr/>
          <a:lstStyle/>
          <a:p>
            <a:r>
              <a:rPr lang="en-IN" dirty="0"/>
              <a:t>Dataset Description (FER-2013)</a:t>
            </a:r>
          </a:p>
        </p:txBody>
      </p:sp>
      <p:sp>
        <p:nvSpPr>
          <p:cNvPr id="3" name="Content Placeholder 2">
            <a:extLst>
              <a:ext uri="{FF2B5EF4-FFF2-40B4-BE49-F238E27FC236}">
                <a16:creationId xmlns:a16="http://schemas.microsoft.com/office/drawing/2014/main" id="{EBAAFFDC-6464-1910-0170-60E89F357F03}"/>
              </a:ext>
            </a:extLst>
          </p:cNvPr>
          <p:cNvSpPr>
            <a:spLocks noGrp="1"/>
          </p:cNvSpPr>
          <p:nvPr>
            <p:ph idx="1"/>
          </p:nvPr>
        </p:nvSpPr>
        <p:spPr>
          <a:xfrm>
            <a:off x="789660" y="649146"/>
            <a:ext cx="8946541" cy="4195481"/>
          </a:xfrm>
        </p:spPr>
        <p:txBody>
          <a:bodyPr>
            <a:noAutofit/>
          </a:bodyPr>
          <a:lstStyle/>
          <a:p>
            <a:pPr>
              <a:lnSpc>
                <a:spcPct val="170000"/>
              </a:lnSpc>
            </a:pPr>
            <a:r>
              <a:rPr lang="en-US" dirty="0"/>
              <a:t>The FER-2013 (Facial Expression Recognition 2013) dataset was used for training and evaluation.</a:t>
            </a:r>
          </a:p>
          <a:p>
            <a:pPr>
              <a:lnSpc>
                <a:spcPct val="170000"/>
              </a:lnSpc>
            </a:pPr>
            <a:r>
              <a:rPr lang="en-US" dirty="0"/>
              <a:t>The dataset contains grayscale facial images categorized into seven emotion classes:  Angry, Disgust, Fear, Happy, Neutral, Sad, and Surprise.</a:t>
            </a:r>
          </a:p>
          <a:p>
            <a:pPr>
              <a:lnSpc>
                <a:spcPct val="170000"/>
              </a:lnSpc>
            </a:pPr>
            <a:r>
              <a:rPr lang="en-US" dirty="0"/>
              <a:t>Images were resized to 224 × 224 pixels before being fed to the </a:t>
            </a:r>
            <a:r>
              <a:rPr lang="en-US" dirty="0" err="1"/>
              <a:t>ConvNeXt</a:t>
            </a:r>
            <a:r>
              <a:rPr lang="en-US" dirty="0"/>
              <a:t>-Tiny model.</a:t>
            </a:r>
          </a:p>
          <a:p>
            <a:pPr>
              <a:lnSpc>
                <a:spcPct val="170000"/>
              </a:lnSpc>
            </a:pPr>
            <a:r>
              <a:rPr lang="en-US" dirty="0"/>
              <a:t>Data augmentation techniques such as horizontal flipping, rotation, and affine transformations were applied to improve model generalization.</a:t>
            </a:r>
          </a:p>
          <a:p>
            <a:pPr>
              <a:lnSpc>
                <a:spcPct val="170000"/>
              </a:lnSpc>
            </a:pPr>
            <a:r>
              <a:rPr lang="en-US" dirty="0"/>
              <a:t>The dataset was divided into training, validation, and testing subsets for performance evaluation.</a:t>
            </a:r>
            <a:endParaRPr lang="en-IN" dirty="0"/>
          </a:p>
        </p:txBody>
      </p:sp>
    </p:spTree>
    <p:extLst>
      <p:ext uri="{BB962C8B-B14F-4D97-AF65-F5344CB8AC3E}">
        <p14:creationId xmlns:p14="http://schemas.microsoft.com/office/powerpoint/2010/main" val="264244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CBA9A-3F0A-B4AB-75AC-42BE4ABBD850}"/>
              </a:ext>
            </a:extLst>
          </p:cNvPr>
          <p:cNvSpPr>
            <a:spLocks noGrp="1"/>
          </p:cNvSpPr>
          <p:nvPr>
            <p:ph type="title"/>
          </p:nvPr>
        </p:nvSpPr>
        <p:spPr>
          <a:xfrm>
            <a:off x="125002" y="128254"/>
            <a:ext cx="7121372" cy="913965"/>
          </a:xfrm>
        </p:spPr>
        <p:txBody>
          <a:bodyPr/>
          <a:lstStyle/>
          <a:p>
            <a:r>
              <a:rPr lang="en-IN" dirty="0"/>
              <a:t>Dataset Description (FER-2013)</a:t>
            </a:r>
          </a:p>
        </p:txBody>
      </p:sp>
      <p:graphicFrame>
        <p:nvGraphicFramePr>
          <p:cNvPr id="5" name="Content Placeholder 4">
            <a:extLst>
              <a:ext uri="{FF2B5EF4-FFF2-40B4-BE49-F238E27FC236}">
                <a16:creationId xmlns:a16="http://schemas.microsoft.com/office/drawing/2014/main" id="{5AAB9172-7DA5-4A33-7AC4-CBCCDDD7CE66}"/>
              </a:ext>
            </a:extLst>
          </p:cNvPr>
          <p:cNvGraphicFramePr>
            <a:graphicFrameLocks noGrp="1"/>
          </p:cNvGraphicFramePr>
          <p:nvPr>
            <p:ph idx="1"/>
            <p:extLst>
              <p:ext uri="{D42A27DB-BD31-4B8C-83A1-F6EECF244321}">
                <p14:modId xmlns:p14="http://schemas.microsoft.com/office/powerpoint/2010/main" val="3825162609"/>
              </p:ext>
            </p:extLst>
          </p:nvPr>
        </p:nvGraphicFramePr>
        <p:xfrm>
          <a:off x="403124" y="1379789"/>
          <a:ext cx="4896464" cy="3291840"/>
        </p:xfrm>
        <a:graphic>
          <a:graphicData uri="http://schemas.openxmlformats.org/drawingml/2006/table">
            <a:tbl>
              <a:tblPr firstRow="1" lastRow="1">
                <a:tableStyleId>{69C7853C-536D-4A76-A0AE-DD22124D55A5}</a:tableStyleId>
              </a:tblPr>
              <a:tblGrid>
                <a:gridCol w="2780429">
                  <a:extLst>
                    <a:ext uri="{9D8B030D-6E8A-4147-A177-3AD203B41FA5}">
                      <a16:colId xmlns:a16="http://schemas.microsoft.com/office/drawing/2014/main" val="353045368"/>
                    </a:ext>
                  </a:extLst>
                </a:gridCol>
                <a:gridCol w="2116035">
                  <a:extLst>
                    <a:ext uri="{9D8B030D-6E8A-4147-A177-3AD203B41FA5}">
                      <a16:colId xmlns:a16="http://schemas.microsoft.com/office/drawing/2014/main" val="4020105263"/>
                    </a:ext>
                  </a:extLst>
                </a:gridCol>
              </a:tblGrid>
              <a:tr h="0">
                <a:tc>
                  <a:txBody>
                    <a:bodyPr/>
                    <a:lstStyle/>
                    <a:p>
                      <a:pPr>
                        <a:buNone/>
                      </a:pPr>
                      <a:r>
                        <a:rPr lang="en-IN" b="1" dirty="0"/>
                        <a:t>Emotion</a:t>
                      </a:r>
                    </a:p>
                  </a:txBody>
                  <a:tcPr anchor="ctr"/>
                </a:tc>
                <a:tc>
                  <a:txBody>
                    <a:bodyPr/>
                    <a:lstStyle/>
                    <a:p>
                      <a:pPr>
                        <a:buNone/>
                      </a:pPr>
                      <a:r>
                        <a:rPr lang="en-IN" b="1" dirty="0"/>
                        <a:t>Samples</a:t>
                      </a:r>
                    </a:p>
                  </a:txBody>
                  <a:tcPr anchor="ctr"/>
                </a:tc>
                <a:extLst>
                  <a:ext uri="{0D108BD9-81ED-4DB2-BD59-A6C34878D82A}">
                    <a16:rowId xmlns:a16="http://schemas.microsoft.com/office/drawing/2014/main" val="4091416690"/>
                  </a:ext>
                </a:extLst>
              </a:tr>
              <a:tr h="0">
                <a:tc>
                  <a:txBody>
                    <a:bodyPr/>
                    <a:lstStyle/>
                    <a:p>
                      <a:pPr>
                        <a:buNone/>
                      </a:pPr>
                      <a:r>
                        <a:rPr lang="en-IN" dirty="0"/>
                        <a:t>Angry</a:t>
                      </a:r>
                    </a:p>
                  </a:txBody>
                  <a:tcPr anchor="ctr"/>
                </a:tc>
                <a:tc>
                  <a:txBody>
                    <a:bodyPr/>
                    <a:lstStyle/>
                    <a:p>
                      <a:pPr>
                        <a:buNone/>
                      </a:pPr>
                      <a:r>
                        <a:rPr lang="en-IN"/>
                        <a:t>4953</a:t>
                      </a:r>
                    </a:p>
                  </a:txBody>
                  <a:tcPr anchor="ctr"/>
                </a:tc>
                <a:extLst>
                  <a:ext uri="{0D108BD9-81ED-4DB2-BD59-A6C34878D82A}">
                    <a16:rowId xmlns:a16="http://schemas.microsoft.com/office/drawing/2014/main" val="1359874061"/>
                  </a:ext>
                </a:extLst>
              </a:tr>
              <a:tr h="0">
                <a:tc>
                  <a:txBody>
                    <a:bodyPr/>
                    <a:lstStyle/>
                    <a:p>
                      <a:pPr>
                        <a:buNone/>
                      </a:pPr>
                      <a:r>
                        <a:rPr lang="en-IN"/>
                        <a:t>Disgust</a:t>
                      </a:r>
                    </a:p>
                  </a:txBody>
                  <a:tcPr anchor="ctr"/>
                </a:tc>
                <a:tc>
                  <a:txBody>
                    <a:bodyPr/>
                    <a:lstStyle/>
                    <a:p>
                      <a:pPr>
                        <a:buNone/>
                      </a:pPr>
                      <a:r>
                        <a:rPr lang="en-IN" dirty="0"/>
                        <a:t>547</a:t>
                      </a:r>
                    </a:p>
                  </a:txBody>
                  <a:tcPr anchor="ctr"/>
                </a:tc>
                <a:extLst>
                  <a:ext uri="{0D108BD9-81ED-4DB2-BD59-A6C34878D82A}">
                    <a16:rowId xmlns:a16="http://schemas.microsoft.com/office/drawing/2014/main" val="3813571622"/>
                  </a:ext>
                </a:extLst>
              </a:tr>
              <a:tr h="0">
                <a:tc>
                  <a:txBody>
                    <a:bodyPr/>
                    <a:lstStyle/>
                    <a:p>
                      <a:pPr>
                        <a:buNone/>
                      </a:pPr>
                      <a:r>
                        <a:rPr lang="en-IN"/>
                        <a:t>Fear</a:t>
                      </a:r>
                    </a:p>
                  </a:txBody>
                  <a:tcPr anchor="ctr"/>
                </a:tc>
                <a:tc>
                  <a:txBody>
                    <a:bodyPr/>
                    <a:lstStyle/>
                    <a:p>
                      <a:pPr>
                        <a:buNone/>
                      </a:pPr>
                      <a:r>
                        <a:rPr lang="en-IN"/>
                        <a:t>5121</a:t>
                      </a:r>
                    </a:p>
                  </a:txBody>
                  <a:tcPr anchor="ctr"/>
                </a:tc>
                <a:extLst>
                  <a:ext uri="{0D108BD9-81ED-4DB2-BD59-A6C34878D82A}">
                    <a16:rowId xmlns:a16="http://schemas.microsoft.com/office/drawing/2014/main" val="2089376792"/>
                  </a:ext>
                </a:extLst>
              </a:tr>
              <a:tr h="0">
                <a:tc>
                  <a:txBody>
                    <a:bodyPr/>
                    <a:lstStyle/>
                    <a:p>
                      <a:pPr>
                        <a:buNone/>
                      </a:pPr>
                      <a:r>
                        <a:rPr lang="en-IN"/>
                        <a:t>Happy</a:t>
                      </a:r>
                    </a:p>
                  </a:txBody>
                  <a:tcPr anchor="ctr"/>
                </a:tc>
                <a:tc>
                  <a:txBody>
                    <a:bodyPr/>
                    <a:lstStyle/>
                    <a:p>
                      <a:pPr>
                        <a:buNone/>
                      </a:pPr>
                      <a:r>
                        <a:rPr lang="en-IN"/>
                        <a:t>8989</a:t>
                      </a:r>
                    </a:p>
                  </a:txBody>
                  <a:tcPr anchor="ctr"/>
                </a:tc>
                <a:extLst>
                  <a:ext uri="{0D108BD9-81ED-4DB2-BD59-A6C34878D82A}">
                    <a16:rowId xmlns:a16="http://schemas.microsoft.com/office/drawing/2014/main" val="1989006050"/>
                  </a:ext>
                </a:extLst>
              </a:tr>
              <a:tr h="0">
                <a:tc>
                  <a:txBody>
                    <a:bodyPr/>
                    <a:lstStyle/>
                    <a:p>
                      <a:pPr>
                        <a:buNone/>
                      </a:pPr>
                      <a:r>
                        <a:rPr lang="en-IN"/>
                        <a:t>Neutral</a:t>
                      </a:r>
                    </a:p>
                  </a:txBody>
                  <a:tcPr anchor="ctr"/>
                </a:tc>
                <a:tc>
                  <a:txBody>
                    <a:bodyPr/>
                    <a:lstStyle/>
                    <a:p>
                      <a:pPr>
                        <a:buNone/>
                      </a:pPr>
                      <a:r>
                        <a:rPr lang="en-IN"/>
                        <a:t>6198</a:t>
                      </a:r>
                    </a:p>
                  </a:txBody>
                  <a:tcPr anchor="ctr"/>
                </a:tc>
                <a:extLst>
                  <a:ext uri="{0D108BD9-81ED-4DB2-BD59-A6C34878D82A}">
                    <a16:rowId xmlns:a16="http://schemas.microsoft.com/office/drawing/2014/main" val="3300982476"/>
                  </a:ext>
                </a:extLst>
              </a:tr>
              <a:tr h="0">
                <a:tc>
                  <a:txBody>
                    <a:bodyPr/>
                    <a:lstStyle/>
                    <a:p>
                      <a:pPr>
                        <a:buNone/>
                      </a:pPr>
                      <a:r>
                        <a:rPr lang="en-IN" dirty="0"/>
                        <a:t>Sad</a:t>
                      </a:r>
                    </a:p>
                  </a:txBody>
                  <a:tcPr anchor="ctr"/>
                </a:tc>
                <a:tc>
                  <a:txBody>
                    <a:bodyPr/>
                    <a:lstStyle/>
                    <a:p>
                      <a:pPr>
                        <a:buNone/>
                      </a:pPr>
                      <a:r>
                        <a:rPr lang="en-IN"/>
                        <a:t>6077</a:t>
                      </a:r>
                    </a:p>
                  </a:txBody>
                  <a:tcPr anchor="ctr"/>
                </a:tc>
                <a:extLst>
                  <a:ext uri="{0D108BD9-81ED-4DB2-BD59-A6C34878D82A}">
                    <a16:rowId xmlns:a16="http://schemas.microsoft.com/office/drawing/2014/main" val="4029719872"/>
                  </a:ext>
                </a:extLst>
              </a:tr>
              <a:tr h="0">
                <a:tc>
                  <a:txBody>
                    <a:bodyPr/>
                    <a:lstStyle/>
                    <a:p>
                      <a:pPr>
                        <a:buNone/>
                      </a:pPr>
                      <a:r>
                        <a:rPr lang="en-IN" dirty="0"/>
                        <a:t>Surprise</a:t>
                      </a:r>
                    </a:p>
                  </a:txBody>
                  <a:tcPr anchor="ctr"/>
                </a:tc>
                <a:tc>
                  <a:txBody>
                    <a:bodyPr/>
                    <a:lstStyle/>
                    <a:p>
                      <a:pPr>
                        <a:buNone/>
                      </a:pPr>
                      <a:r>
                        <a:rPr lang="en-IN" dirty="0"/>
                        <a:t>4002</a:t>
                      </a:r>
                    </a:p>
                  </a:txBody>
                  <a:tcPr anchor="ctr"/>
                </a:tc>
                <a:extLst>
                  <a:ext uri="{0D108BD9-81ED-4DB2-BD59-A6C34878D82A}">
                    <a16:rowId xmlns:a16="http://schemas.microsoft.com/office/drawing/2014/main" val="1093374747"/>
                  </a:ext>
                </a:extLst>
              </a:tr>
              <a:tr h="0">
                <a:tc>
                  <a:txBody>
                    <a:bodyPr/>
                    <a:lstStyle/>
                    <a:p>
                      <a:pPr>
                        <a:buNone/>
                      </a:pPr>
                      <a:r>
                        <a:rPr lang="en-IN" dirty="0"/>
                        <a:t>Total Images</a:t>
                      </a:r>
                    </a:p>
                  </a:txBody>
                  <a:tcPr anchor="ctr"/>
                </a:tc>
                <a:tc>
                  <a:txBody>
                    <a:bodyPr/>
                    <a:lstStyle/>
                    <a:p>
                      <a:pPr>
                        <a:buNone/>
                      </a:pPr>
                      <a:r>
                        <a:rPr lang="en-IN" dirty="0"/>
                        <a:t>35,887</a:t>
                      </a:r>
                    </a:p>
                  </a:txBody>
                  <a:tcPr anchor="ctr"/>
                </a:tc>
                <a:extLst>
                  <a:ext uri="{0D108BD9-81ED-4DB2-BD59-A6C34878D82A}">
                    <a16:rowId xmlns:a16="http://schemas.microsoft.com/office/drawing/2014/main" val="1601687265"/>
                  </a:ext>
                </a:extLst>
              </a:tr>
            </a:tbl>
          </a:graphicData>
        </a:graphic>
      </p:graphicFrame>
      <p:pic>
        <p:nvPicPr>
          <p:cNvPr id="10" name="Picture 9">
            <a:extLst>
              <a:ext uri="{FF2B5EF4-FFF2-40B4-BE49-F238E27FC236}">
                <a16:creationId xmlns:a16="http://schemas.microsoft.com/office/drawing/2014/main" id="{28FFDB1F-A7A8-3E7F-4010-E99EDCC39352}"/>
              </a:ext>
            </a:extLst>
          </p:cNvPr>
          <p:cNvPicPr>
            <a:picLocks noChangeAspect="1"/>
          </p:cNvPicPr>
          <p:nvPr/>
        </p:nvPicPr>
        <p:blipFill>
          <a:blip r:embed="rId2"/>
          <a:stretch>
            <a:fillRect/>
          </a:stretch>
        </p:blipFill>
        <p:spPr>
          <a:xfrm>
            <a:off x="5959576" y="1493734"/>
            <a:ext cx="5829300" cy="2847975"/>
          </a:xfrm>
          <a:prstGeom prst="rect">
            <a:avLst/>
          </a:prstGeom>
        </p:spPr>
      </p:pic>
    </p:spTree>
    <p:extLst>
      <p:ext uri="{BB962C8B-B14F-4D97-AF65-F5344CB8AC3E}">
        <p14:creationId xmlns:p14="http://schemas.microsoft.com/office/powerpoint/2010/main" val="670570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227A-C347-3FD7-6D51-FC472EDB0A2C}"/>
              </a:ext>
            </a:extLst>
          </p:cNvPr>
          <p:cNvSpPr>
            <a:spLocks noGrp="1"/>
          </p:cNvSpPr>
          <p:nvPr>
            <p:ph type="title"/>
          </p:nvPr>
        </p:nvSpPr>
        <p:spPr>
          <a:xfrm>
            <a:off x="0" y="59335"/>
            <a:ext cx="5004619" cy="963220"/>
          </a:xfrm>
        </p:spPr>
        <p:txBody>
          <a:bodyPr/>
          <a:lstStyle/>
          <a:p>
            <a:r>
              <a:rPr lang="en-IN" dirty="0"/>
              <a:t>System Architecture</a:t>
            </a:r>
          </a:p>
        </p:txBody>
      </p:sp>
      <p:pic>
        <p:nvPicPr>
          <p:cNvPr id="4" name="Picture 3">
            <a:extLst>
              <a:ext uri="{FF2B5EF4-FFF2-40B4-BE49-F238E27FC236}">
                <a16:creationId xmlns:a16="http://schemas.microsoft.com/office/drawing/2014/main" id="{BCDF015D-C11F-284F-78AC-DB907723DA12}"/>
              </a:ext>
            </a:extLst>
          </p:cNvPr>
          <p:cNvPicPr>
            <a:picLocks noChangeAspect="1"/>
          </p:cNvPicPr>
          <p:nvPr/>
        </p:nvPicPr>
        <p:blipFill rotWithShape="1">
          <a:blip r:embed="rId2"/>
          <a:srcRect r="4584"/>
          <a:stretch>
            <a:fillRect/>
          </a:stretch>
        </p:blipFill>
        <p:spPr bwMode="auto">
          <a:xfrm>
            <a:off x="923289" y="865238"/>
            <a:ext cx="10097851" cy="59334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196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7AE54-E777-9487-8569-EF3DDE49B143}"/>
              </a:ext>
            </a:extLst>
          </p:cNvPr>
          <p:cNvSpPr>
            <a:spLocks noGrp="1"/>
          </p:cNvSpPr>
          <p:nvPr>
            <p:ph type="title"/>
          </p:nvPr>
        </p:nvSpPr>
        <p:spPr>
          <a:xfrm>
            <a:off x="419971" y="127820"/>
            <a:ext cx="3365450" cy="746817"/>
          </a:xfrm>
        </p:spPr>
        <p:txBody>
          <a:bodyPr/>
          <a:lstStyle/>
          <a:p>
            <a:r>
              <a:rPr lang="en-IN" dirty="0"/>
              <a:t>Methodology</a:t>
            </a:r>
          </a:p>
        </p:txBody>
      </p:sp>
      <p:sp>
        <p:nvSpPr>
          <p:cNvPr id="3" name="Content Placeholder 2">
            <a:extLst>
              <a:ext uri="{FF2B5EF4-FFF2-40B4-BE49-F238E27FC236}">
                <a16:creationId xmlns:a16="http://schemas.microsoft.com/office/drawing/2014/main" id="{78BFF765-DD02-9613-AA59-C08C45A1E2EB}"/>
              </a:ext>
            </a:extLst>
          </p:cNvPr>
          <p:cNvSpPr>
            <a:spLocks noGrp="1"/>
          </p:cNvSpPr>
          <p:nvPr>
            <p:ph idx="1"/>
          </p:nvPr>
        </p:nvSpPr>
        <p:spPr>
          <a:xfrm>
            <a:off x="1622729" y="746817"/>
            <a:ext cx="8946541" cy="4195481"/>
          </a:xfrm>
        </p:spPr>
        <p:txBody>
          <a:bodyPr>
            <a:noAutofit/>
          </a:bodyPr>
          <a:lstStyle/>
          <a:p>
            <a:pPr marL="0" indent="0">
              <a:lnSpc>
                <a:spcPct val="170000"/>
              </a:lnSpc>
              <a:buNone/>
            </a:pPr>
            <a:r>
              <a:rPr lang="en-US" sz="1800" dirty="0"/>
              <a:t>1. Real-time video frames are captured through the webcam.</a:t>
            </a:r>
          </a:p>
          <a:p>
            <a:pPr marL="0" indent="0">
              <a:lnSpc>
                <a:spcPct val="170000"/>
              </a:lnSpc>
              <a:buNone/>
            </a:pPr>
            <a:r>
              <a:rPr lang="en-US" sz="1800" dirty="0"/>
              <a:t>2. OpenCV Haar Cascade is used to detect and extract the facial region.</a:t>
            </a:r>
          </a:p>
          <a:p>
            <a:pPr marL="0" indent="0">
              <a:lnSpc>
                <a:spcPct val="170000"/>
              </a:lnSpc>
              <a:buNone/>
            </a:pPr>
            <a:r>
              <a:rPr lang="en-US" sz="1800" dirty="0"/>
              <a:t>3. The detected face is preprocessed through resizing, RGB conversion, and normalization.</a:t>
            </a:r>
          </a:p>
          <a:p>
            <a:pPr marL="0" indent="0">
              <a:lnSpc>
                <a:spcPct val="170000"/>
              </a:lnSpc>
              <a:buNone/>
            </a:pPr>
            <a:r>
              <a:rPr lang="en-US" sz="1800" dirty="0"/>
              <a:t>4. The preprocessed image is passed to the </a:t>
            </a:r>
            <a:r>
              <a:rPr lang="en-US" sz="1800" dirty="0" err="1"/>
              <a:t>ConvNeXt</a:t>
            </a:r>
            <a:r>
              <a:rPr lang="en-US" sz="1800" dirty="0"/>
              <a:t>-Tiny model for emotion classification.</a:t>
            </a:r>
          </a:p>
          <a:p>
            <a:pPr marL="0" indent="0">
              <a:lnSpc>
                <a:spcPct val="170000"/>
              </a:lnSpc>
              <a:buNone/>
            </a:pPr>
            <a:r>
              <a:rPr lang="en-US" sz="1800" dirty="0"/>
              <a:t>5. Temporal probability smoothing is applied using a 5-frame rolling buffer to reduce prediction fluctuations.</a:t>
            </a:r>
          </a:p>
          <a:p>
            <a:pPr marL="0" indent="0">
              <a:lnSpc>
                <a:spcPct val="170000"/>
              </a:lnSpc>
              <a:buNone/>
            </a:pPr>
            <a:r>
              <a:rPr lang="en-US" sz="1800" dirty="0"/>
              <a:t>6. Baseline emotion calibration personalizes emotion interpretation based on the user's neutral facial baseline.</a:t>
            </a:r>
          </a:p>
          <a:p>
            <a:pPr marL="0" indent="0">
              <a:lnSpc>
                <a:spcPct val="170000"/>
              </a:lnSpc>
              <a:buNone/>
            </a:pPr>
            <a:r>
              <a:rPr lang="en-US" sz="1800" dirty="0"/>
              <a:t>7. The final stable emotion prediction is displayed through the web application along with music recommendations.</a:t>
            </a:r>
            <a:endParaRPr lang="en-IN" sz="1800" dirty="0"/>
          </a:p>
        </p:txBody>
      </p:sp>
    </p:spTree>
    <p:extLst>
      <p:ext uri="{BB962C8B-B14F-4D97-AF65-F5344CB8AC3E}">
        <p14:creationId xmlns:p14="http://schemas.microsoft.com/office/powerpoint/2010/main" val="386883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72729F72-FCA4-E346-5DDC-3FBDA94B4B11}"/>
              </a:ext>
            </a:extLst>
          </p:cNvPr>
          <p:cNvGraphicFramePr/>
          <p:nvPr>
            <p:extLst>
              <p:ext uri="{D42A27DB-BD31-4B8C-83A1-F6EECF244321}">
                <p14:modId xmlns:p14="http://schemas.microsoft.com/office/powerpoint/2010/main" val="2234280151"/>
              </p:ext>
            </p:extLst>
          </p:nvPr>
        </p:nvGraphicFramePr>
        <p:xfrm>
          <a:off x="491615" y="157316"/>
          <a:ext cx="12722940" cy="5506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4484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3F5E8-9A7D-2958-A04D-81CEF55914E0}"/>
              </a:ext>
            </a:extLst>
          </p:cNvPr>
          <p:cNvSpPr>
            <a:spLocks noGrp="1"/>
          </p:cNvSpPr>
          <p:nvPr>
            <p:ph type="title"/>
          </p:nvPr>
        </p:nvSpPr>
        <p:spPr>
          <a:xfrm>
            <a:off x="183995" y="157750"/>
            <a:ext cx="9404723" cy="1400530"/>
          </a:xfrm>
        </p:spPr>
        <p:txBody>
          <a:bodyPr/>
          <a:lstStyle/>
          <a:p>
            <a:r>
              <a:rPr lang="en-US" dirty="0"/>
              <a:t>Model Development and Experimental Comparison</a:t>
            </a:r>
            <a:endParaRPr lang="en-IN" dirty="0"/>
          </a:p>
        </p:txBody>
      </p:sp>
      <p:graphicFrame>
        <p:nvGraphicFramePr>
          <p:cNvPr id="4" name="Content Placeholder 3">
            <a:extLst>
              <a:ext uri="{FF2B5EF4-FFF2-40B4-BE49-F238E27FC236}">
                <a16:creationId xmlns:a16="http://schemas.microsoft.com/office/drawing/2014/main" id="{A9604FCD-9011-DB98-7FF4-21EAE0E4EA03}"/>
              </a:ext>
            </a:extLst>
          </p:cNvPr>
          <p:cNvGraphicFramePr>
            <a:graphicFrameLocks noGrp="1"/>
          </p:cNvGraphicFramePr>
          <p:nvPr>
            <p:ph idx="1"/>
            <p:extLst>
              <p:ext uri="{D42A27DB-BD31-4B8C-83A1-F6EECF244321}">
                <p14:modId xmlns:p14="http://schemas.microsoft.com/office/powerpoint/2010/main" val="801173960"/>
              </p:ext>
            </p:extLst>
          </p:nvPr>
        </p:nvGraphicFramePr>
        <p:xfrm>
          <a:off x="400305" y="1902865"/>
          <a:ext cx="4172472" cy="2743200"/>
        </p:xfrm>
        <a:graphic>
          <a:graphicData uri="http://schemas.openxmlformats.org/drawingml/2006/table">
            <a:tbl>
              <a:tblPr firstRow="1">
                <a:tableStyleId>{08FB837D-C827-4EFA-A057-4D05807E0F7C}</a:tableStyleId>
              </a:tblPr>
              <a:tblGrid>
                <a:gridCol w="2373168">
                  <a:extLst>
                    <a:ext uri="{9D8B030D-6E8A-4147-A177-3AD203B41FA5}">
                      <a16:colId xmlns:a16="http://schemas.microsoft.com/office/drawing/2014/main" val="4055253495"/>
                    </a:ext>
                  </a:extLst>
                </a:gridCol>
                <a:gridCol w="1799304">
                  <a:extLst>
                    <a:ext uri="{9D8B030D-6E8A-4147-A177-3AD203B41FA5}">
                      <a16:colId xmlns:a16="http://schemas.microsoft.com/office/drawing/2014/main" val="1126856340"/>
                    </a:ext>
                  </a:extLst>
                </a:gridCol>
              </a:tblGrid>
              <a:tr h="0">
                <a:tc>
                  <a:txBody>
                    <a:bodyPr/>
                    <a:lstStyle/>
                    <a:p>
                      <a:pPr algn="l">
                        <a:buNone/>
                      </a:pPr>
                      <a:r>
                        <a:rPr lang="en-IN" dirty="0"/>
                        <a:t>Model</a:t>
                      </a:r>
                    </a:p>
                  </a:txBody>
                  <a:tcPr anchor="ctr"/>
                </a:tc>
                <a:tc>
                  <a:txBody>
                    <a:bodyPr/>
                    <a:lstStyle/>
                    <a:p>
                      <a:pPr algn="l">
                        <a:buNone/>
                      </a:pPr>
                      <a:r>
                        <a:rPr lang="en-IN" dirty="0"/>
                        <a:t>Test Accuracy (%)</a:t>
                      </a:r>
                    </a:p>
                  </a:txBody>
                  <a:tcPr anchor="ctr"/>
                </a:tc>
                <a:extLst>
                  <a:ext uri="{0D108BD9-81ED-4DB2-BD59-A6C34878D82A}">
                    <a16:rowId xmlns:a16="http://schemas.microsoft.com/office/drawing/2014/main" val="130285779"/>
                  </a:ext>
                </a:extLst>
              </a:tr>
              <a:tr h="0">
                <a:tc>
                  <a:txBody>
                    <a:bodyPr/>
                    <a:lstStyle/>
                    <a:p>
                      <a:pPr algn="l">
                        <a:buNone/>
                      </a:pPr>
                      <a:r>
                        <a:rPr lang="en-IN"/>
                        <a:t>Baseline ResNet50</a:t>
                      </a:r>
                    </a:p>
                  </a:txBody>
                  <a:tcPr anchor="ctr"/>
                </a:tc>
                <a:tc>
                  <a:txBody>
                    <a:bodyPr/>
                    <a:lstStyle/>
                    <a:p>
                      <a:pPr algn="l">
                        <a:buNone/>
                      </a:pPr>
                      <a:r>
                        <a:rPr lang="en-IN" dirty="0"/>
                        <a:t>65.03</a:t>
                      </a:r>
                    </a:p>
                  </a:txBody>
                  <a:tcPr anchor="ctr"/>
                </a:tc>
                <a:extLst>
                  <a:ext uri="{0D108BD9-81ED-4DB2-BD59-A6C34878D82A}">
                    <a16:rowId xmlns:a16="http://schemas.microsoft.com/office/drawing/2014/main" val="1641921152"/>
                  </a:ext>
                </a:extLst>
              </a:tr>
              <a:tr h="0">
                <a:tc>
                  <a:txBody>
                    <a:bodyPr/>
                    <a:lstStyle/>
                    <a:p>
                      <a:pPr algn="l">
                        <a:buNone/>
                      </a:pPr>
                      <a:r>
                        <a:rPr lang="en-IN"/>
                        <a:t>ResNet50V2</a:t>
                      </a:r>
                    </a:p>
                  </a:txBody>
                  <a:tcPr anchor="ctr"/>
                </a:tc>
                <a:tc>
                  <a:txBody>
                    <a:bodyPr/>
                    <a:lstStyle/>
                    <a:p>
                      <a:pPr algn="l">
                        <a:buNone/>
                      </a:pPr>
                      <a:r>
                        <a:rPr lang="en-IN"/>
                        <a:t>67.99</a:t>
                      </a:r>
                    </a:p>
                  </a:txBody>
                  <a:tcPr anchor="ctr"/>
                </a:tc>
                <a:extLst>
                  <a:ext uri="{0D108BD9-81ED-4DB2-BD59-A6C34878D82A}">
                    <a16:rowId xmlns:a16="http://schemas.microsoft.com/office/drawing/2014/main" val="3440992736"/>
                  </a:ext>
                </a:extLst>
              </a:tr>
              <a:tr h="0">
                <a:tc>
                  <a:txBody>
                    <a:bodyPr/>
                    <a:lstStyle/>
                    <a:p>
                      <a:pPr algn="l">
                        <a:buNone/>
                      </a:pPr>
                      <a:r>
                        <a:rPr lang="en-IN"/>
                        <a:t>Progressive Unfreezing ResNet50V2</a:t>
                      </a:r>
                    </a:p>
                  </a:txBody>
                  <a:tcPr anchor="ctr"/>
                </a:tc>
                <a:tc>
                  <a:txBody>
                    <a:bodyPr/>
                    <a:lstStyle/>
                    <a:p>
                      <a:pPr algn="l">
                        <a:buNone/>
                      </a:pPr>
                      <a:r>
                        <a:rPr lang="en-IN"/>
                        <a:t>69.66</a:t>
                      </a:r>
                    </a:p>
                  </a:txBody>
                  <a:tcPr anchor="ctr"/>
                </a:tc>
                <a:extLst>
                  <a:ext uri="{0D108BD9-81ED-4DB2-BD59-A6C34878D82A}">
                    <a16:rowId xmlns:a16="http://schemas.microsoft.com/office/drawing/2014/main" val="1625237029"/>
                  </a:ext>
                </a:extLst>
              </a:tr>
              <a:tr h="0">
                <a:tc>
                  <a:txBody>
                    <a:bodyPr/>
                    <a:lstStyle/>
                    <a:p>
                      <a:pPr algn="l">
                        <a:buNone/>
                      </a:pPr>
                      <a:r>
                        <a:rPr lang="en-IN"/>
                        <a:t>EfficientNet-B0</a:t>
                      </a:r>
                    </a:p>
                  </a:txBody>
                  <a:tcPr anchor="ctr"/>
                </a:tc>
                <a:tc>
                  <a:txBody>
                    <a:bodyPr/>
                    <a:lstStyle/>
                    <a:p>
                      <a:pPr algn="l">
                        <a:buNone/>
                      </a:pPr>
                      <a:r>
                        <a:rPr lang="en-IN" dirty="0"/>
                        <a:t>71.8</a:t>
                      </a:r>
                    </a:p>
                  </a:txBody>
                  <a:tcPr anchor="ctr"/>
                </a:tc>
                <a:extLst>
                  <a:ext uri="{0D108BD9-81ED-4DB2-BD59-A6C34878D82A}">
                    <a16:rowId xmlns:a16="http://schemas.microsoft.com/office/drawing/2014/main" val="3850004814"/>
                  </a:ext>
                </a:extLst>
              </a:tr>
              <a:tr h="0">
                <a:tc>
                  <a:txBody>
                    <a:bodyPr/>
                    <a:lstStyle/>
                    <a:p>
                      <a:pPr algn="l">
                        <a:buNone/>
                      </a:pPr>
                      <a:r>
                        <a:rPr lang="en-IN"/>
                        <a:t>ConvNeXt-Tiny</a:t>
                      </a:r>
                    </a:p>
                  </a:txBody>
                  <a:tcPr anchor="ctr"/>
                </a:tc>
                <a:tc>
                  <a:txBody>
                    <a:bodyPr/>
                    <a:lstStyle/>
                    <a:p>
                      <a:pPr algn="l">
                        <a:buNone/>
                      </a:pPr>
                      <a:r>
                        <a:rPr lang="en-IN" dirty="0"/>
                        <a:t>72.97</a:t>
                      </a:r>
                    </a:p>
                  </a:txBody>
                  <a:tcPr anchor="ctr"/>
                </a:tc>
                <a:extLst>
                  <a:ext uri="{0D108BD9-81ED-4DB2-BD59-A6C34878D82A}">
                    <a16:rowId xmlns:a16="http://schemas.microsoft.com/office/drawing/2014/main" val="3628984854"/>
                  </a:ext>
                </a:extLst>
              </a:tr>
            </a:tbl>
          </a:graphicData>
        </a:graphic>
      </p:graphicFrame>
      <p:sp>
        <p:nvSpPr>
          <p:cNvPr id="6" name="TextBox 5">
            <a:extLst>
              <a:ext uri="{FF2B5EF4-FFF2-40B4-BE49-F238E27FC236}">
                <a16:creationId xmlns:a16="http://schemas.microsoft.com/office/drawing/2014/main" id="{51CFA400-2B51-BD33-42D7-4917AD4D2CF0}"/>
              </a:ext>
            </a:extLst>
          </p:cNvPr>
          <p:cNvSpPr txBox="1"/>
          <p:nvPr/>
        </p:nvSpPr>
        <p:spPr>
          <a:xfrm>
            <a:off x="5292212" y="1558280"/>
            <a:ext cx="6120580" cy="3737946"/>
          </a:xfrm>
          <a:prstGeom prst="rect">
            <a:avLst/>
          </a:prstGeom>
          <a:noFill/>
        </p:spPr>
        <p:txBody>
          <a:bodyPr wrap="square">
            <a:spAutoFit/>
          </a:bodyPr>
          <a:lstStyle/>
          <a:p>
            <a:pPr>
              <a:lnSpc>
                <a:spcPct val="150000"/>
              </a:lnSpc>
            </a:pPr>
            <a:r>
              <a:rPr lang="en-IN" sz="2000" dirty="0"/>
              <a:t>• Multiple transfer learning architectures were evaluated on the FER-2013 dataset.</a:t>
            </a:r>
          </a:p>
          <a:p>
            <a:pPr>
              <a:lnSpc>
                <a:spcPct val="150000"/>
              </a:lnSpc>
            </a:pPr>
            <a:r>
              <a:rPr lang="en-IN" sz="2000" dirty="0"/>
              <a:t>• Progressive improvements were achieved through fine-tuning, data augmentation, and optimization techniques.</a:t>
            </a:r>
          </a:p>
          <a:p>
            <a:pPr>
              <a:lnSpc>
                <a:spcPct val="150000"/>
              </a:lnSpc>
            </a:pPr>
            <a:r>
              <a:rPr lang="en-IN" sz="2000" dirty="0"/>
              <a:t>• </a:t>
            </a:r>
            <a:r>
              <a:rPr lang="en-IN" sz="2000" dirty="0" err="1"/>
              <a:t>ConvNeXt</a:t>
            </a:r>
            <a:r>
              <a:rPr lang="en-IN" sz="2000" dirty="0"/>
              <a:t>-Tiny achieved the highest overall accuracy and demonstrated superior generalization performance.</a:t>
            </a:r>
          </a:p>
          <a:p>
            <a:pPr>
              <a:lnSpc>
                <a:spcPct val="150000"/>
              </a:lnSpc>
            </a:pPr>
            <a:r>
              <a:rPr lang="en-IN" sz="2000" dirty="0"/>
              <a:t>• Therefore, </a:t>
            </a:r>
            <a:r>
              <a:rPr lang="en-IN" sz="2000" dirty="0" err="1"/>
              <a:t>ConvNeXt</a:t>
            </a:r>
            <a:r>
              <a:rPr lang="en-IN" sz="2000" dirty="0"/>
              <a:t>-Tiny was selected as the final deployment model.</a:t>
            </a:r>
          </a:p>
        </p:txBody>
      </p:sp>
    </p:spTree>
    <p:extLst>
      <p:ext uri="{BB962C8B-B14F-4D97-AF65-F5344CB8AC3E}">
        <p14:creationId xmlns:p14="http://schemas.microsoft.com/office/powerpoint/2010/main" val="2188701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33FCC-F5FC-3F29-B07B-7F4AE530EB4A}"/>
              </a:ext>
            </a:extLst>
          </p:cNvPr>
          <p:cNvSpPr>
            <a:spLocks noGrp="1"/>
          </p:cNvSpPr>
          <p:nvPr>
            <p:ph type="title"/>
          </p:nvPr>
        </p:nvSpPr>
        <p:spPr>
          <a:xfrm>
            <a:off x="95505" y="108589"/>
            <a:ext cx="6452779" cy="717321"/>
          </a:xfrm>
        </p:spPr>
        <p:txBody>
          <a:bodyPr/>
          <a:lstStyle/>
          <a:p>
            <a:r>
              <a:rPr lang="en-IN" dirty="0" err="1"/>
              <a:t>ConvNeXt</a:t>
            </a:r>
            <a:r>
              <a:rPr lang="en-IN" dirty="0"/>
              <a:t>-Tiny Architecture</a:t>
            </a:r>
          </a:p>
        </p:txBody>
      </p:sp>
      <p:pic>
        <p:nvPicPr>
          <p:cNvPr id="11" name="Picture 10">
            <a:extLst>
              <a:ext uri="{FF2B5EF4-FFF2-40B4-BE49-F238E27FC236}">
                <a16:creationId xmlns:a16="http://schemas.microsoft.com/office/drawing/2014/main" id="{FEA62CD3-595C-1630-00E8-FC37D7581D9A}"/>
              </a:ext>
            </a:extLst>
          </p:cNvPr>
          <p:cNvPicPr>
            <a:picLocks noChangeAspect="1"/>
          </p:cNvPicPr>
          <p:nvPr/>
        </p:nvPicPr>
        <p:blipFill>
          <a:blip r:embed="rId2"/>
          <a:stretch>
            <a:fillRect/>
          </a:stretch>
        </p:blipFill>
        <p:spPr>
          <a:xfrm>
            <a:off x="6366708" y="0"/>
            <a:ext cx="3231931" cy="6858000"/>
          </a:xfrm>
          <a:prstGeom prst="rect">
            <a:avLst/>
          </a:prstGeom>
        </p:spPr>
      </p:pic>
      <p:sp>
        <p:nvSpPr>
          <p:cNvPr id="13" name="TextBox 12">
            <a:extLst>
              <a:ext uri="{FF2B5EF4-FFF2-40B4-BE49-F238E27FC236}">
                <a16:creationId xmlns:a16="http://schemas.microsoft.com/office/drawing/2014/main" id="{F5C0835F-728C-B087-57AB-0EDEDDDBD447}"/>
              </a:ext>
            </a:extLst>
          </p:cNvPr>
          <p:cNvSpPr txBox="1"/>
          <p:nvPr/>
        </p:nvSpPr>
        <p:spPr>
          <a:xfrm>
            <a:off x="593203" y="1419501"/>
            <a:ext cx="6163518" cy="4315027"/>
          </a:xfrm>
          <a:prstGeom prst="rect">
            <a:avLst/>
          </a:prstGeom>
          <a:noFill/>
        </p:spPr>
        <p:txBody>
          <a:bodyPr wrap="square">
            <a:spAutoFit/>
          </a:bodyPr>
          <a:lstStyle/>
          <a:p>
            <a:pPr>
              <a:lnSpc>
                <a:spcPct val="200000"/>
              </a:lnSpc>
            </a:pPr>
            <a:r>
              <a:rPr lang="en-IN" sz="2000" dirty="0"/>
              <a:t>• Pretrained on ImageNet</a:t>
            </a:r>
          </a:p>
          <a:p>
            <a:pPr>
              <a:lnSpc>
                <a:spcPct val="200000"/>
              </a:lnSpc>
            </a:pPr>
            <a:r>
              <a:rPr lang="en-IN" sz="2000" dirty="0"/>
              <a:t>• Fine-tuned on FER-2013 dataset</a:t>
            </a:r>
          </a:p>
          <a:p>
            <a:pPr>
              <a:lnSpc>
                <a:spcPct val="200000"/>
              </a:lnSpc>
            </a:pPr>
            <a:r>
              <a:rPr lang="en-IN" sz="2000" dirty="0"/>
              <a:t>• Uses hierarchical feature extraction</a:t>
            </a:r>
          </a:p>
          <a:p>
            <a:pPr>
              <a:lnSpc>
                <a:spcPct val="200000"/>
              </a:lnSpc>
            </a:pPr>
            <a:r>
              <a:rPr lang="en-IN" sz="2000" dirty="0"/>
              <a:t>• Dropout used to reduce overfitting</a:t>
            </a:r>
          </a:p>
          <a:p>
            <a:pPr>
              <a:lnSpc>
                <a:spcPct val="200000"/>
              </a:lnSpc>
            </a:pPr>
            <a:r>
              <a:rPr lang="en-IN" sz="2000" dirty="0"/>
              <a:t>• Outputs seven emotion classes</a:t>
            </a:r>
          </a:p>
          <a:p>
            <a:pPr>
              <a:lnSpc>
                <a:spcPct val="200000"/>
              </a:lnSpc>
            </a:pPr>
            <a:r>
              <a:rPr lang="en-IN" sz="2000" dirty="0"/>
              <a:t>• Achieved 72.97% test accuracy</a:t>
            </a:r>
          </a:p>
          <a:p>
            <a:pPr>
              <a:lnSpc>
                <a:spcPct val="200000"/>
              </a:lnSpc>
            </a:pPr>
            <a:r>
              <a:rPr lang="en-IN" sz="2000" dirty="0"/>
              <a:t>• Achieved 74.2% Validation Accuracy</a:t>
            </a:r>
          </a:p>
        </p:txBody>
      </p:sp>
    </p:spTree>
    <p:extLst>
      <p:ext uri="{BB962C8B-B14F-4D97-AF65-F5344CB8AC3E}">
        <p14:creationId xmlns:p14="http://schemas.microsoft.com/office/powerpoint/2010/main" val="131009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49DD-4D79-132C-4AED-A0D05AAE4461}"/>
              </a:ext>
            </a:extLst>
          </p:cNvPr>
          <p:cNvSpPr>
            <a:spLocks noGrp="1"/>
          </p:cNvSpPr>
          <p:nvPr>
            <p:ph type="title"/>
          </p:nvPr>
        </p:nvSpPr>
        <p:spPr>
          <a:xfrm>
            <a:off x="0" y="0"/>
            <a:ext cx="9404723" cy="1400530"/>
          </a:xfrm>
        </p:spPr>
        <p:txBody>
          <a:bodyPr/>
          <a:lstStyle/>
          <a:p>
            <a:r>
              <a:rPr lang="en-IN" dirty="0"/>
              <a:t>Results and Performance Evaluation</a:t>
            </a:r>
          </a:p>
        </p:txBody>
      </p:sp>
      <p:graphicFrame>
        <p:nvGraphicFramePr>
          <p:cNvPr id="4" name="Content Placeholder 3">
            <a:extLst>
              <a:ext uri="{FF2B5EF4-FFF2-40B4-BE49-F238E27FC236}">
                <a16:creationId xmlns:a16="http://schemas.microsoft.com/office/drawing/2014/main" id="{ED400F3F-FA10-FF0C-A015-B28DB215CCFC}"/>
              </a:ext>
            </a:extLst>
          </p:cNvPr>
          <p:cNvGraphicFramePr>
            <a:graphicFrameLocks noGrp="1"/>
          </p:cNvGraphicFramePr>
          <p:nvPr>
            <p:ph idx="1"/>
            <p:extLst>
              <p:ext uri="{D42A27DB-BD31-4B8C-83A1-F6EECF244321}">
                <p14:modId xmlns:p14="http://schemas.microsoft.com/office/powerpoint/2010/main" val="3404661457"/>
              </p:ext>
            </p:extLst>
          </p:nvPr>
        </p:nvGraphicFramePr>
        <p:xfrm>
          <a:off x="134087" y="826419"/>
          <a:ext cx="4172472" cy="2743200"/>
        </p:xfrm>
        <a:graphic>
          <a:graphicData uri="http://schemas.openxmlformats.org/drawingml/2006/table">
            <a:tbl>
              <a:tblPr firstRow="1">
                <a:tableStyleId>{306799F8-075E-4A3A-A7F6-7FBC6576F1A4}</a:tableStyleId>
              </a:tblPr>
              <a:tblGrid>
                <a:gridCol w="2373168">
                  <a:extLst>
                    <a:ext uri="{9D8B030D-6E8A-4147-A177-3AD203B41FA5}">
                      <a16:colId xmlns:a16="http://schemas.microsoft.com/office/drawing/2014/main" val="4055253495"/>
                    </a:ext>
                  </a:extLst>
                </a:gridCol>
                <a:gridCol w="1799304">
                  <a:extLst>
                    <a:ext uri="{9D8B030D-6E8A-4147-A177-3AD203B41FA5}">
                      <a16:colId xmlns:a16="http://schemas.microsoft.com/office/drawing/2014/main" val="1126856340"/>
                    </a:ext>
                  </a:extLst>
                </a:gridCol>
              </a:tblGrid>
              <a:tr h="0">
                <a:tc>
                  <a:txBody>
                    <a:bodyPr/>
                    <a:lstStyle/>
                    <a:p>
                      <a:pPr algn="l">
                        <a:buNone/>
                      </a:pPr>
                      <a:r>
                        <a:rPr lang="en-IN" dirty="0"/>
                        <a:t>Model</a:t>
                      </a:r>
                    </a:p>
                  </a:txBody>
                  <a:tcPr anchor="ctr"/>
                </a:tc>
                <a:tc>
                  <a:txBody>
                    <a:bodyPr/>
                    <a:lstStyle/>
                    <a:p>
                      <a:pPr algn="l">
                        <a:buNone/>
                      </a:pPr>
                      <a:r>
                        <a:rPr lang="en-IN" dirty="0"/>
                        <a:t>Test Accuracy (%)</a:t>
                      </a:r>
                    </a:p>
                  </a:txBody>
                  <a:tcPr anchor="ctr"/>
                </a:tc>
                <a:extLst>
                  <a:ext uri="{0D108BD9-81ED-4DB2-BD59-A6C34878D82A}">
                    <a16:rowId xmlns:a16="http://schemas.microsoft.com/office/drawing/2014/main" val="130285779"/>
                  </a:ext>
                </a:extLst>
              </a:tr>
              <a:tr h="0">
                <a:tc>
                  <a:txBody>
                    <a:bodyPr/>
                    <a:lstStyle/>
                    <a:p>
                      <a:pPr algn="l">
                        <a:buNone/>
                      </a:pPr>
                      <a:r>
                        <a:rPr lang="en-IN"/>
                        <a:t>Baseline ResNet50</a:t>
                      </a:r>
                    </a:p>
                  </a:txBody>
                  <a:tcPr anchor="ctr"/>
                </a:tc>
                <a:tc>
                  <a:txBody>
                    <a:bodyPr/>
                    <a:lstStyle/>
                    <a:p>
                      <a:pPr algn="l">
                        <a:buNone/>
                      </a:pPr>
                      <a:r>
                        <a:rPr lang="en-IN" dirty="0"/>
                        <a:t>65.03</a:t>
                      </a:r>
                    </a:p>
                  </a:txBody>
                  <a:tcPr anchor="ctr"/>
                </a:tc>
                <a:extLst>
                  <a:ext uri="{0D108BD9-81ED-4DB2-BD59-A6C34878D82A}">
                    <a16:rowId xmlns:a16="http://schemas.microsoft.com/office/drawing/2014/main" val="1641921152"/>
                  </a:ext>
                </a:extLst>
              </a:tr>
              <a:tr h="0">
                <a:tc>
                  <a:txBody>
                    <a:bodyPr/>
                    <a:lstStyle/>
                    <a:p>
                      <a:pPr algn="l">
                        <a:buNone/>
                      </a:pPr>
                      <a:r>
                        <a:rPr lang="en-IN"/>
                        <a:t>ResNet50V2</a:t>
                      </a:r>
                    </a:p>
                  </a:txBody>
                  <a:tcPr anchor="ctr"/>
                </a:tc>
                <a:tc>
                  <a:txBody>
                    <a:bodyPr/>
                    <a:lstStyle/>
                    <a:p>
                      <a:pPr algn="l">
                        <a:buNone/>
                      </a:pPr>
                      <a:r>
                        <a:rPr lang="en-IN"/>
                        <a:t>67.99</a:t>
                      </a:r>
                    </a:p>
                  </a:txBody>
                  <a:tcPr anchor="ctr"/>
                </a:tc>
                <a:extLst>
                  <a:ext uri="{0D108BD9-81ED-4DB2-BD59-A6C34878D82A}">
                    <a16:rowId xmlns:a16="http://schemas.microsoft.com/office/drawing/2014/main" val="3440992736"/>
                  </a:ext>
                </a:extLst>
              </a:tr>
              <a:tr h="0">
                <a:tc>
                  <a:txBody>
                    <a:bodyPr/>
                    <a:lstStyle/>
                    <a:p>
                      <a:pPr algn="l">
                        <a:buNone/>
                      </a:pPr>
                      <a:r>
                        <a:rPr lang="en-IN" dirty="0"/>
                        <a:t>Progressive Unfreezing ResNet50V2</a:t>
                      </a:r>
                    </a:p>
                  </a:txBody>
                  <a:tcPr anchor="ctr"/>
                </a:tc>
                <a:tc>
                  <a:txBody>
                    <a:bodyPr/>
                    <a:lstStyle/>
                    <a:p>
                      <a:pPr algn="l">
                        <a:buNone/>
                      </a:pPr>
                      <a:r>
                        <a:rPr lang="en-IN"/>
                        <a:t>69.66</a:t>
                      </a:r>
                    </a:p>
                  </a:txBody>
                  <a:tcPr anchor="ctr"/>
                </a:tc>
                <a:extLst>
                  <a:ext uri="{0D108BD9-81ED-4DB2-BD59-A6C34878D82A}">
                    <a16:rowId xmlns:a16="http://schemas.microsoft.com/office/drawing/2014/main" val="1625237029"/>
                  </a:ext>
                </a:extLst>
              </a:tr>
              <a:tr h="0">
                <a:tc>
                  <a:txBody>
                    <a:bodyPr/>
                    <a:lstStyle/>
                    <a:p>
                      <a:pPr algn="l">
                        <a:buNone/>
                      </a:pPr>
                      <a:r>
                        <a:rPr lang="en-IN"/>
                        <a:t>EfficientNet-B0</a:t>
                      </a:r>
                    </a:p>
                  </a:txBody>
                  <a:tcPr anchor="ctr"/>
                </a:tc>
                <a:tc>
                  <a:txBody>
                    <a:bodyPr/>
                    <a:lstStyle/>
                    <a:p>
                      <a:pPr algn="l">
                        <a:buNone/>
                      </a:pPr>
                      <a:r>
                        <a:rPr lang="en-IN" dirty="0"/>
                        <a:t>71.8</a:t>
                      </a:r>
                    </a:p>
                  </a:txBody>
                  <a:tcPr anchor="ctr"/>
                </a:tc>
                <a:extLst>
                  <a:ext uri="{0D108BD9-81ED-4DB2-BD59-A6C34878D82A}">
                    <a16:rowId xmlns:a16="http://schemas.microsoft.com/office/drawing/2014/main" val="3850004814"/>
                  </a:ext>
                </a:extLst>
              </a:tr>
              <a:tr h="0">
                <a:tc>
                  <a:txBody>
                    <a:bodyPr/>
                    <a:lstStyle/>
                    <a:p>
                      <a:pPr algn="l">
                        <a:buNone/>
                      </a:pPr>
                      <a:r>
                        <a:rPr lang="en-IN"/>
                        <a:t>ConvNeXt-Tiny</a:t>
                      </a:r>
                    </a:p>
                  </a:txBody>
                  <a:tcPr anchor="ctr"/>
                </a:tc>
                <a:tc>
                  <a:txBody>
                    <a:bodyPr/>
                    <a:lstStyle/>
                    <a:p>
                      <a:pPr algn="l">
                        <a:buNone/>
                      </a:pPr>
                      <a:r>
                        <a:rPr lang="en-IN" dirty="0"/>
                        <a:t>72.9</a:t>
                      </a:r>
                    </a:p>
                  </a:txBody>
                  <a:tcPr anchor="ctr"/>
                </a:tc>
                <a:extLst>
                  <a:ext uri="{0D108BD9-81ED-4DB2-BD59-A6C34878D82A}">
                    <a16:rowId xmlns:a16="http://schemas.microsoft.com/office/drawing/2014/main" val="3628984854"/>
                  </a:ext>
                </a:extLst>
              </a:tr>
            </a:tbl>
          </a:graphicData>
        </a:graphic>
      </p:graphicFrame>
      <p:pic>
        <p:nvPicPr>
          <p:cNvPr id="8" name="Picture 7">
            <a:extLst>
              <a:ext uri="{FF2B5EF4-FFF2-40B4-BE49-F238E27FC236}">
                <a16:creationId xmlns:a16="http://schemas.microsoft.com/office/drawing/2014/main" id="{4ABA05ED-B173-EA25-21CE-53A71600077C}"/>
              </a:ext>
            </a:extLst>
          </p:cNvPr>
          <p:cNvPicPr>
            <a:picLocks noChangeAspect="1"/>
          </p:cNvPicPr>
          <p:nvPr/>
        </p:nvPicPr>
        <p:blipFill>
          <a:blip r:embed="rId2"/>
          <a:stretch>
            <a:fillRect/>
          </a:stretch>
        </p:blipFill>
        <p:spPr>
          <a:xfrm>
            <a:off x="4562099" y="1034280"/>
            <a:ext cx="6850539" cy="5480431"/>
          </a:xfrm>
          <a:prstGeom prst="rect">
            <a:avLst/>
          </a:prstGeom>
        </p:spPr>
      </p:pic>
    </p:spTree>
    <p:extLst>
      <p:ext uri="{BB962C8B-B14F-4D97-AF65-F5344CB8AC3E}">
        <p14:creationId xmlns:p14="http://schemas.microsoft.com/office/powerpoint/2010/main" val="12508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A196B-42A7-0F56-C09A-17FCF1ABF795}"/>
              </a:ext>
            </a:extLst>
          </p:cNvPr>
          <p:cNvSpPr>
            <a:spLocks noGrp="1"/>
          </p:cNvSpPr>
          <p:nvPr>
            <p:ph type="title"/>
          </p:nvPr>
        </p:nvSpPr>
        <p:spPr>
          <a:xfrm>
            <a:off x="0" y="0"/>
            <a:ext cx="9404723" cy="844952"/>
          </a:xfrm>
        </p:spPr>
        <p:txBody>
          <a:bodyPr/>
          <a:lstStyle/>
          <a:p>
            <a:r>
              <a:rPr lang="en-IN" dirty="0"/>
              <a:t>Results and Performance Evaluation</a:t>
            </a:r>
          </a:p>
        </p:txBody>
      </p:sp>
      <p:graphicFrame>
        <p:nvGraphicFramePr>
          <p:cNvPr id="6" name="Table 5">
            <a:extLst>
              <a:ext uri="{FF2B5EF4-FFF2-40B4-BE49-F238E27FC236}">
                <a16:creationId xmlns:a16="http://schemas.microsoft.com/office/drawing/2014/main" id="{DAE562BA-492B-2890-E59C-E2C1BDA8BF80}"/>
              </a:ext>
            </a:extLst>
          </p:cNvPr>
          <p:cNvGraphicFramePr>
            <a:graphicFrameLocks noGrp="1"/>
          </p:cNvGraphicFramePr>
          <p:nvPr>
            <p:extLst>
              <p:ext uri="{D42A27DB-BD31-4B8C-83A1-F6EECF244321}">
                <p14:modId xmlns:p14="http://schemas.microsoft.com/office/powerpoint/2010/main" val="1921461360"/>
              </p:ext>
            </p:extLst>
          </p:nvPr>
        </p:nvGraphicFramePr>
        <p:xfrm>
          <a:off x="529993" y="1187400"/>
          <a:ext cx="2694750" cy="3017520"/>
        </p:xfrm>
        <a:graphic>
          <a:graphicData uri="http://schemas.openxmlformats.org/drawingml/2006/table">
            <a:tbl>
              <a:tblPr firstRow="1">
                <a:tableStyleId>{775DCB02-9BB8-47FD-8907-85C794F793BA}</a:tableStyleId>
              </a:tblPr>
              <a:tblGrid>
                <a:gridCol w="1570419">
                  <a:extLst>
                    <a:ext uri="{9D8B030D-6E8A-4147-A177-3AD203B41FA5}">
                      <a16:colId xmlns:a16="http://schemas.microsoft.com/office/drawing/2014/main" val="1912808781"/>
                    </a:ext>
                  </a:extLst>
                </a:gridCol>
                <a:gridCol w="1124331">
                  <a:extLst>
                    <a:ext uri="{9D8B030D-6E8A-4147-A177-3AD203B41FA5}">
                      <a16:colId xmlns:a16="http://schemas.microsoft.com/office/drawing/2014/main" val="735870080"/>
                    </a:ext>
                  </a:extLst>
                </a:gridCol>
              </a:tblGrid>
              <a:tr h="0">
                <a:tc>
                  <a:txBody>
                    <a:bodyPr/>
                    <a:lstStyle/>
                    <a:p>
                      <a:pPr algn="l">
                        <a:buNone/>
                      </a:pPr>
                      <a:r>
                        <a:rPr lang="en-IN" sz="2800"/>
                        <a:t>Metric</a:t>
                      </a:r>
                    </a:p>
                  </a:txBody>
                  <a:tcPr anchor="ctr"/>
                </a:tc>
                <a:tc>
                  <a:txBody>
                    <a:bodyPr/>
                    <a:lstStyle/>
                    <a:p>
                      <a:pPr algn="l">
                        <a:buNone/>
                      </a:pPr>
                      <a:r>
                        <a:rPr lang="en-IN" sz="2800"/>
                        <a:t>Value (%)</a:t>
                      </a:r>
                    </a:p>
                  </a:txBody>
                  <a:tcPr anchor="ctr"/>
                </a:tc>
                <a:extLst>
                  <a:ext uri="{0D108BD9-81ED-4DB2-BD59-A6C34878D82A}">
                    <a16:rowId xmlns:a16="http://schemas.microsoft.com/office/drawing/2014/main" val="95843243"/>
                  </a:ext>
                </a:extLst>
              </a:tr>
              <a:tr h="0">
                <a:tc>
                  <a:txBody>
                    <a:bodyPr/>
                    <a:lstStyle/>
                    <a:p>
                      <a:pPr algn="l">
                        <a:buNone/>
                      </a:pPr>
                      <a:r>
                        <a:rPr lang="en-IN" sz="2800"/>
                        <a:t>Accuracy</a:t>
                      </a:r>
                    </a:p>
                  </a:txBody>
                  <a:tcPr anchor="ctr"/>
                </a:tc>
                <a:tc>
                  <a:txBody>
                    <a:bodyPr/>
                    <a:lstStyle/>
                    <a:p>
                      <a:pPr algn="l">
                        <a:buNone/>
                      </a:pPr>
                      <a:r>
                        <a:rPr lang="en-IN" sz="2800"/>
                        <a:t>72.97</a:t>
                      </a:r>
                    </a:p>
                  </a:txBody>
                  <a:tcPr anchor="ctr"/>
                </a:tc>
                <a:extLst>
                  <a:ext uri="{0D108BD9-81ED-4DB2-BD59-A6C34878D82A}">
                    <a16:rowId xmlns:a16="http://schemas.microsoft.com/office/drawing/2014/main" val="2835590904"/>
                  </a:ext>
                </a:extLst>
              </a:tr>
              <a:tr h="0">
                <a:tc>
                  <a:txBody>
                    <a:bodyPr/>
                    <a:lstStyle/>
                    <a:p>
                      <a:pPr algn="l">
                        <a:buNone/>
                      </a:pPr>
                      <a:r>
                        <a:rPr lang="en-IN" sz="2800"/>
                        <a:t>Precision</a:t>
                      </a:r>
                    </a:p>
                  </a:txBody>
                  <a:tcPr anchor="ctr"/>
                </a:tc>
                <a:tc>
                  <a:txBody>
                    <a:bodyPr/>
                    <a:lstStyle/>
                    <a:p>
                      <a:pPr algn="l">
                        <a:buNone/>
                      </a:pPr>
                      <a:r>
                        <a:rPr lang="en-IN" sz="2800"/>
                        <a:t>72.87</a:t>
                      </a:r>
                    </a:p>
                  </a:txBody>
                  <a:tcPr anchor="ctr"/>
                </a:tc>
                <a:extLst>
                  <a:ext uri="{0D108BD9-81ED-4DB2-BD59-A6C34878D82A}">
                    <a16:rowId xmlns:a16="http://schemas.microsoft.com/office/drawing/2014/main" val="2461971591"/>
                  </a:ext>
                </a:extLst>
              </a:tr>
              <a:tr h="0">
                <a:tc>
                  <a:txBody>
                    <a:bodyPr/>
                    <a:lstStyle/>
                    <a:p>
                      <a:pPr algn="l">
                        <a:buNone/>
                      </a:pPr>
                      <a:r>
                        <a:rPr lang="en-IN" sz="2800"/>
                        <a:t>Recall</a:t>
                      </a:r>
                    </a:p>
                  </a:txBody>
                  <a:tcPr anchor="ctr"/>
                </a:tc>
                <a:tc>
                  <a:txBody>
                    <a:bodyPr/>
                    <a:lstStyle/>
                    <a:p>
                      <a:pPr algn="l">
                        <a:buNone/>
                      </a:pPr>
                      <a:r>
                        <a:rPr lang="en-IN" sz="2800"/>
                        <a:t>72.97</a:t>
                      </a:r>
                    </a:p>
                  </a:txBody>
                  <a:tcPr anchor="ctr"/>
                </a:tc>
                <a:extLst>
                  <a:ext uri="{0D108BD9-81ED-4DB2-BD59-A6C34878D82A}">
                    <a16:rowId xmlns:a16="http://schemas.microsoft.com/office/drawing/2014/main" val="2567793527"/>
                  </a:ext>
                </a:extLst>
              </a:tr>
              <a:tr h="0">
                <a:tc>
                  <a:txBody>
                    <a:bodyPr/>
                    <a:lstStyle/>
                    <a:p>
                      <a:pPr algn="l">
                        <a:buNone/>
                      </a:pPr>
                      <a:r>
                        <a:rPr lang="en-IN" sz="2800"/>
                        <a:t>F1-Score</a:t>
                      </a:r>
                    </a:p>
                  </a:txBody>
                  <a:tcPr anchor="ctr"/>
                </a:tc>
                <a:tc>
                  <a:txBody>
                    <a:bodyPr/>
                    <a:lstStyle/>
                    <a:p>
                      <a:pPr algn="l">
                        <a:buNone/>
                      </a:pPr>
                      <a:r>
                        <a:rPr lang="en-IN" sz="2800" dirty="0"/>
                        <a:t>72.87</a:t>
                      </a:r>
                    </a:p>
                  </a:txBody>
                  <a:tcPr anchor="ctr"/>
                </a:tc>
                <a:extLst>
                  <a:ext uri="{0D108BD9-81ED-4DB2-BD59-A6C34878D82A}">
                    <a16:rowId xmlns:a16="http://schemas.microsoft.com/office/drawing/2014/main" val="566576639"/>
                  </a:ext>
                </a:extLst>
              </a:tr>
            </a:tbl>
          </a:graphicData>
        </a:graphic>
      </p:graphicFrame>
      <p:sp>
        <p:nvSpPr>
          <p:cNvPr id="10" name="TextBox 9">
            <a:extLst>
              <a:ext uri="{FF2B5EF4-FFF2-40B4-BE49-F238E27FC236}">
                <a16:creationId xmlns:a16="http://schemas.microsoft.com/office/drawing/2014/main" id="{5A2AF6E3-FFBC-9329-598A-230BC1B1ABB6}"/>
              </a:ext>
            </a:extLst>
          </p:cNvPr>
          <p:cNvSpPr txBox="1"/>
          <p:nvPr/>
        </p:nvSpPr>
        <p:spPr>
          <a:xfrm>
            <a:off x="4551745" y="1187400"/>
            <a:ext cx="6640974" cy="3737946"/>
          </a:xfrm>
          <a:prstGeom prst="rect">
            <a:avLst/>
          </a:prstGeom>
          <a:noFill/>
        </p:spPr>
        <p:txBody>
          <a:bodyPr wrap="square">
            <a:spAutoFit/>
          </a:bodyPr>
          <a:lstStyle/>
          <a:p>
            <a:pPr>
              <a:lnSpc>
                <a:spcPct val="150000"/>
              </a:lnSpc>
            </a:pPr>
            <a:r>
              <a:rPr lang="en-IN" sz="2000" dirty="0"/>
              <a:t>• </a:t>
            </a:r>
            <a:r>
              <a:rPr lang="en-IN" sz="2000" dirty="0" err="1"/>
              <a:t>ConvNeXt</a:t>
            </a:r>
            <a:r>
              <a:rPr lang="en-IN" sz="2000" dirty="0"/>
              <a:t>-Tiny achieved the highest accuracy among all evaluated models.</a:t>
            </a:r>
          </a:p>
          <a:p>
            <a:pPr>
              <a:lnSpc>
                <a:spcPct val="150000"/>
              </a:lnSpc>
            </a:pPr>
            <a:r>
              <a:rPr lang="en-IN" sz="2000" dirty="0"/>
              <a:t>• Temporal probability smoothing improved prediction stability in real-time inference.</a:t>
            </a:r>
          </a:p>
          <a:p>
            <a:pPr>
              <a:lnSpc>
                <a:spcPct val="150000"/>
              </a:lnSpc>
            </a:pPr>
            <a:r>
              <a:rPr lang="en-IN" sz="2000" dirty="0"/>
              <a:t>• Baseline-aware calibration enabled personalized emotion interpretation.</a:t>
            </a:r>
          </a:p>
          <a:p>
            <a:pPr>
              <a:lnSpc>
                <a:spcPct val="150000"/>
              </a:lnSpc>
            </a:pPr>
            <a:r>
              <a:rPr lang="en-IN" sz="2000" dirty="0"/>
              <a:t>• The proposed system successfully performed real-time emotion recognition and recommendation.</a:t>
            </a:r>
          </a:p>
        </p:txBody>
      </p:sp>
    </p:spTree>
    <p:extLst>
      <p:ext uri="{BB962C8B-B14F-4D97-AF65-F5344CB8AC3E}">
        <p14:creationId xmlns:p14="http://schemas.microsoft.com/office/powerpoint/2010/main" val="652268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F68B6-A188-4846-92E7-05B0C20DAEDB}"/>
              </a:ext>
            </a:extLst>
          </p:cNvPr>
          <p:cNvSpPr>
            <a:spLocks noGrp="1"/>
          </p:cNvSpPr>
          <p:nvPr>
            <p:ph type="title"/>
          </p:nvPr>
        </p:nvSpPr>
        <p:spPr>
          <a:xfrm>
            <a:off x="0" y="0"/>
            <a:ext cx="9404723" cy="925975"/>
          </a:xfrm>
        </p:spPr>
        <p:txBody>
          <a:bodyPr/>
          <a:lstStyle/>
          <a:p>
            <a:r>
              <a:rPr lang="en-IN" dirty="0"/>
              <a:t>Conclusion and Future Scope</a:t>
            </a:r>
          </a:p>
        </p:txBody>
      </p:sp>
      <p:sp>
        <p:nvSpPr>
          <p:cNvPr id="3" name="Content Placeholder 2">
            <a:extLst>
              <a:ext uri="{FF2B5EF4-FFF2-40B4-BE49-F238E27FC236}">
                <a16:creationId xmlns:a16="http://schemas.microsoft.com/office/drawing/2014/main" id="{946AAA76-AA63-BFE9-7F29-32CB2570A1D7}"/>
              </a:ext>
            </a:extLst>
          </p:cNvPr>
          <p:cNvSpPr>
            <a:spLocks noGrp="1"/>
          </p:cNvSpPr>
          <p:nvPr>
            <p:ph idx="1"/>
          </p:nvPr>
        </p:nvSpPr>
        <p:spPr>
          <a:xfrm>
            <a:off x="1104293" y="1543632"/>
            <a:ext cx="8946541" cy="4195481"/>
          </a:xfrm>
        </p:spPr>
        <p:txBody>
          <a:bodyPr>
            <a:noAutofit/>
          </a:bodyPr>
          <a:lstStyle/>
          <a:p>
            <a:pPr marL="0" indent="0" algn="just">
              <a:lnSpc>
                <a:spcPct val="150000"/>
              </a:lnSpc>
              <a:buNone/>
            </a:pPr>
            <a:r>
              <a:rPr lang="en-US" dirty="0"/>
              <a:t>The proposed Baseline-Aware Temporal Facial Emotion Recognition system was successfully developed using OpenCV and the </a:t>
            </a:r>
            <a:r>
              <a:rPr lang="en-US" dirty="0" err="1"/>
              <a:t>ConvNeXt</a:t>
            </a:r>
            <a:r>
              <a:rPr lang="en-US" dirty="0"/>
              <a:t>-Tiny deep learning architecture. The system effectively performs real-time facial emotion recognition by combining face detection, emotion classification, temporal probability smoothing, and baseline-aware calibration. The incorporation of temporal stabilization improved prediction consistency, while personalized baseline calibration enhanced emotion interpretation. Experimental evaluation on the FER-2013 dataset demonstrated strong performance, achieving an accuracy of 72.97%, thereby validating the effectiveness of the proposed approach.</a:t>
            </a:r>
            <a:endParaRPr lang="en-IN" dirty="0"/>
          </a:p>
        </p:txBody>
      </p:sp>
      <p:sp>
        <p:nvSpPr>
          <p:cNvPr id="4" name="TextBox 3">
            <a:extLst>
              <a:ext uri="{FF2B5EF4-FFF2-40B4-BE49-F238E27FC236}">
                <a16:creationId xmlns:a16="http://schemas.microsoft.com/office/drawing/2014/main" id="{83C8242F-7442-7755-0508-904BB56BC1FA}"/>
              </a:ext>
            </a:extLst>
          </p:cNvPr>
          <p:cNvSpPr txBox="1"/>
          <p:nvPr/>
        </p:nvSpPr>
        <p:spPr>
          <a:xfrm>
            <a:off x="578734" y="925975"/>
            <a:ext cx="2233304" cy="646331"/>
          </a:xfrm>
          <a:prstGeom prst="rect">
            <a:avLst/>
          </a:prstGeom>
          <a:noFill/>
        </p:spPr>
        <p:txBody>
          <a:bodyPr wrap="none" rtlCol="0">
            <a:spAutoFit/>
          </a:bodyPr>
          <a:lstStyle/>
          <a:p>
            <a:r>
              <a:rPr lang="en-IN" sz="3600" dirty="0"/>
              <a:t>Conclusion</a:t>
            </a:r>
          </a:p>
        </p:txBody>
      </p:sp>
    </p:spTree>
    <p:extLst>
      <p:ext uri="{BB962C8B-B14F-4D97-AF65-F5344CB8AC3E}">
        <p14:creationId xmlns:p14="http://schemas.microsoft.com/office/powerpoint/2010/main" val="96758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0520-0A3A-945C-834B-A2FEBD9760AD}"/>
              </a:ext>
            </a:extLst>
          </p:cNvPr>
          <p:cNvSpPr>
            <a:spLocks noGrp="1"/>
          </p:cNvSpPr>
          <p:nvPr>
            <p:ph type="title"/>
          </p:nvPr>
        </p:nvSpPr>
        <p:spPr>
          <a:xfrm>
            <a:off x="0" y="0"/>
            <a:ext cx="6620719" cy="833377"/>
          </a:xfrm>
        </p:spPr>
        <p:txBody>
          <a:bodyPr/>
          <a:lstStyle/>
          <a:p>
            <a:r>
              <a:rPr lang="en-IN" dirty="0"/>
              <a:t>Conclusion and Future Scope</a:t>
            </a:r>
          </a:p>
        </p:txBody>
      </p:sp>
      <p:sp>
        <p:nvSpPr>
          <p:cNvPr id="7" name="TextBox 6">
            <a:extLst>
              <a:ext uri="{FF2B5EF4-FFF2-40B4-BE49-F238E27FC236}">
                <a16:creationId xmlns:a16="http://schemas.microsoft.com/office/drawing/2014/main" id="{AB6606B3-0F38-9F97-E00D-A66CDA15C146}"/>
              </a:ext>
            </a:extLst>
          </p:cNvPr>
          <p:cNvSpPr txBox="1"/>
          <p:nvPr/>
        </p:nvSpPr>
        <p:spPr>
          <a:xfrm>
            <a:off x="720524" y="833377"/>
            <a:ext cx="6209818" cy="646331"/>
          </a:xfrm>
          <a:prstGeom prst="rect">
            <a:avLst/>
          </a:prstGeom>
          <a:noFill/>
        </p:spPr>
        <p:txBody>
          <a:bodyPr wrap="square">
            <a:spAutoFit/>
          </a:bodyPr>
          <a:lstStyle/>
          <a:p>
            <a:pPr marL="0" indent="0">
              <a:buNone/>
            </a:pPr>
            <a:r>
              <a:rPr lang="en-IN" sz="3600" dirty="0"/>
              <a:t>Future Scope</a:t>
            </a:r>
          </a:p>
        </p:txBody>
      </p:sp>
      <p:sp>
        <p:nvSpPr>
          <p:cNvPr id="9" name="TextBox 8">
            <a:extLst>
              <a:ext uri="{FF2B5EF4-FFF2-40B4-BE49-F238E27FC236}">
                <a16:creationId xmlns:a16="http://schemas.microsoft.com/office/drawing/2014/main" id="{7EA6E2D0-0CF8-A641-0A90-C27A31658454}"/>
              </a:ext>
            </a:extLst>
          </p:cNvPr>
          <p:cNvSpPr txBox="1"/>
          <p:nvPr/>
        </p:nvSpPr>
        <p:spPr>
          <a:xfrm>
            <a:off x="1102487" y="1479708"/>
            <a:ext cx="8203557" cy="4199611"/>
          </a:xfrm>
          <a:prstGeom prst="rect">
            <a:avLst/>
          </a:prstGeom>
          <a:noFill/>
        </p:spPr>
        <p:txBody>
          <a:bodyPr wrap="square">
            <a:spAutoFit/>
          </a:bodyPr>
          <a:lstStyle/>
          <a:p>
            <a:pPr algn="just">
              <a:lnSpc>
                <a:spcPct val="150000"/>
              </a:lnSpc>
            </a:pPr>
            <a:r>
              <a:rPr lang="en-US" sz="2000" dirty="0"/>
              <a:t>Future enhancements to the proposed system may include the integration of multimodal emotion recognition by combining facial expressions with speech and physiological signals. The system can also be optimized for deployment on mobile and edge devices to support real-time applications with limited computational resources. Furthermore, advanced recommendation mechanisms and intelligent virtual assistants can be incorporated to provide more personalized user experiences. Exploring transformer-based architectures and attention mechanisms may further improve emotion recognition accuracy and robustness in real-world environments.</a:t>
            </a:r>
            <a:endParaRPr lang="en-IN" sz="2000" dirty="0"/>
          </a:p>
        </p:txBody>
      </p:sp>
    </p:spTree>
    <p:extLst>
      <p:ext uri="{BB962C8B-B14F-4D97-AF65-F5344CB8AC3E}">
        <p14:creationId xmlns:p14="http://schemas.microsoft.com/office/powerpoint/2010/main" val="1007105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739D7-B1E2-6B71-F5C5-E88985F5A1AE}"/>
              </a:ext>
            </a:extLst>
          </p:cNvPr>
          <p:cNvSpPr>
            <a:spLocks noGrp="1"/>
          </p:cNvSpPr>
          <p:nvPr>
            <p:ph type="title"/>
          </p:nvPr>
        </p:nvSpPr>
        <p:spPr>
          <a:xfrm>
            <a:off x="1" y="0"/>
            <a:ext cx="2882096" cy="833377"/>
          </a:xfrm>
        </p:spPr>
        <p:txBody>
          <a:bodyPr/>
          <a:lstStyle/>
          <a:p>
            <a:r>
              <a:rPr lang="en-IN" dirty="0"/>
              <a:t>References</a:t>
            </a:r>
          </a:p>
        </p:txBody>
      </p:sp>
      <p:sp>
        <p:nvSpPr>
          <p:cNvPr id="3" name="Content Placeholder 2">
            <a:extLst>
              <a:ext uri="{FF2B5EF4-FFF2-40B4-BE49-F238E27FC236}">
                <a16:creationId xmlns:a16="http://schemas.microsoft.com/office/drawing/2014/main" id="{455079AC-0067-4C98-9B38-09D3F82E319C}"/>
              </a:ext>
            </a:extLst>
          </p:cNvPr>
          <p:cNvSpPr>
            <a:spLocks noGrp="1"/>
          </p:cNvSpPr>
          <p:nvPr>
            <p:ph idx="1"/>
          </p:nvPr>
        </p:nvSpPr>
        <p:spPr>
          <a:xfrm>
            <a:off x="513003" y="833377"/>
            <a:ext cx="8946541" cy="4195481"/>
          </a:xfrm>
        </p:spPr>
        <p:txBody>
          <a:bodyPr>
            <a:noAutofit/>
          </a:bodyPr>
          <a:lstStyle/>
          <a:p>
            <a:pPr marL="0" indent="0" algn="just">
              <a:buNone/>
            </a:pPr>
            <a:r>
              <a:rPr lang="en-IN" dirty="0"/>
              <a:t>[1] A. </a:t>
            </a:r>
            <a:r>
              <a:rPr lang="en-IN" dirty="0" err="1"/>
              <a:t>Mollahosseini</a:t>
            </a:r>
            <a:r>
              <a:rPr lang="en-IN" dirty="0"/>
              <a:t>, D. Chan, and M. H. Mahoor, “Going deeper in facial expression recognition using deep neural networks,” </a:t>
            </a:r>
            <a:r>
              <a:rPr lang="en-IN" i="1" dirty="0"/>
              <a:t>IEEE Winter Conference on Applications of Computer Vision (WACV)</a:t>
            </a:r>
            <a:r>
              <a:rPr lang="en-IN" dirty="0"/>
              <a:t>, pp. 1–10, 2019.</a:t>
            </a:r>
          </a:p>
          <a:p>
            <a:pPr marL="0" indent="0" algn="just">
              <a:buNone/>
            </a:pPr>
            <a:r>
              <a:rPr lang="en-IN" dirty="0"/>
              <a:t>[2] Y. </a:t>
            </a:r>
            <a:r>
              <a:rPr lang="en-IN" dirty="0" err="1"/>
              <a:t>Khaireddin</a:t>
            </a:r>
            <a:r>
              <a:rPr lang="en-IN" dirty="0"/>
              <a:t> and Z. Chen, “Facial emotion recognition: State of the art performance on FER2013,” </a:t>
            </a:r>
            <a:r>
              <a:rPr lang="en-IN" i="1" dirty="0" err="1"/>
              <a:t>arXiv</a:t>
            </a:r>
            <a:r>
              <a:rPr lang="en-IN" i="1" dirty="0"/>
              <a:t> preprint arXiv:2105.03588</a:t>
            </a:r>
            <a:r>
              <a:rPr lang="en-IN" dirty="0"/>
              <a:t>, 2021.</a:t>
            </a:r>
          </a:p>
          <a:p>
            <a:pPr marL="0" indent="0" algn="just">
              <a:buNone/>
            </a:pPr>
            <a:r>
              <a:rPr lang="en-IN" dirty="0"/>
              <a:t>[3] S. </a:t>
            </a:r>
            <a:r>
              <a:rPr lang="en-IN" dirty="0" err="1"/>
              <a:t>Minaee</a:t>
            </a:r>
            <a:r>
              <a:rPr lang="en-IN" dirty="0"/>
              <a:t>, M. Minaei, and A. </a:t>
            </a:r>
            <a:r>
              <a:rPr lang="en-IN" dirty="0" err="1"/>
              <a:t>Abdolrashidi</a:t>
            </a:r>
            <a:r>
              <a:rPr lang="en-IN" dirty="0"/>
              <a:t>, “Deep-emotion: Facial expression recognition using attentional convolutional network,” </a:t>
            </a:r>
            <a:r>
              <a:rPr lang="en-IN" i="1" dirty="0"/>
              <a:t>Sensors</a:t>
            </a:r>
            <a:r>
              <a:rPr lang="en-IN" dirty="0"/>
              <a:t>, vol. 21, no. 9, pp. 1–18, 2021.</a:t>
            </a:r>
          </a:p>
          <a:p>
            <a:pPr marL="0" indent="0" algn="just">
              <a:buNone/>
            </a:pPr>
            <a:r>
              <a:rPr lang="en-IN" dirty="0"/>
              <a:t>[4] S. Li and W. Deng, “Deep facial expression recognition: A survey,” </a:t>
            </a:r>
            <a:r>
              <a:rPr lang="en-IN" i="1" dirty="0"/>
              <a:t>IEEE Transactions on Affective Computing</a:t>
            </a:r>
            <a:r>
              <a:rPr lang="en-IN" dirty="0"/>
              <a:t>, vol. 13, no. 3, pp. 1195–1215, 2022.</a:t>
            </a:r>
          </a:p>
          <a:p>
            <a:pPr marL="0" indent="0" algn="just">
              <a:buNone/>
            </a:pPr>
            <a:r>
              <a:rPr lang="en-IN" dirty="0"/>
              <a:t>[5] F. Wang, S. Xiang, and J. Pan, “Multimodal emotion recognition using deep learning techniques,” </a:t>
            </a:r>
            <a:r>
              <a:rPr lang="en-IN" i="1" dirty="0"/>
              <a:t>International Journal of Computer Vision and Signal Processing</a:t>
            </a:r>
            <a:r>
              <a:rPr lang="en-IN" dirty="0"/>
              <a:t>, vol. 14, no. 2, pp. 45–57, 2022.</a:t>
            </a:r>
          </a:p>
          <a:p>
            <a:pPr marL="0" indent="0" algn="just">
              <a:buNone/>
            </a:pPr>
            <a:r>
              <a:rPr lang="en-IN" dirty="0"/>
              <a:t>[6] J. Zeng, Y. Hu, and K. Zhao, “Transformer-based facial emotion recognition framework,” </a:t>
            </a:r>
            <a:r>
              <a:rPr lang="en-IN" i="1" dirty="0"/>
              <a:t>IEEE Access</a:t>
            </a:r>
            <a:r>
              <a:rPr lang="en-IN" dirty="0"/>
              <a:t>, vol. 11, pp. 34567–34578, 2023.</a:t>
            </a:r>
          </a:p>
        </p:txBody>
      </p:sp>
    </p:spTree>
    <p:extLst>
      <p:ext uri="{BB962C8B-B14F-4D97-AF65-F5344CB8AC3E}">
        <p14:creationId xmlns:p14="http://schemas.microsoft.com/office/powerpoint/2010/main" val="3546378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36DD7-542E-0A9C-C486-D65D3C971134}"/>
              </a:ext>
            </a:extLst>
          </p:cNvPr>
          <p:cNvSpPr>
            <a:spLocks noGrp="1"/>
          </p:cNvSpPr>
          <p:nvPr>
            <p:ph type="title"/>
          </p:nvPr>
        </p:nvSpPr>
        <p:spPr>
          <a:xfrm>
            <a:off x="0" y="0"/>
            <a:ext cx="2883670" cy="864805"/>
          </a:xfrm>
        </p:spPr>
        <p:txBody>
          <a:bodyPr/>
          <a:lstStyle/>
          <a:p>
            <a:r>
              <a:rPr lang="en-IN" dirty="0"/>
              <a:t>References</a:t>
            </a:r>
          </a:p>
        </p:txBody>
      </p:sp>
      <p:sp>
        <p:nvSpPr>
          <p:cNvPr id="3" name="Content Placeholder 2">
            <a:extLst>
              <a:ext uri="{FF2B5EF4-FFF2-40B4-BE49-F238E27FC236}">
                <a16:creationId xmlns:a16="http://schemas.microsoft.com/office/drawing/2014/main" id="{53FD9930-051C-6070-0817-9F8FF1319B0F}"/>
              </a:ext>
            </a:extLst>
          </p:cNvPr>
          <p:cNvSpPr>
            <a:spLocks noGrp="1"/>
          </p:cNvSpPr>
          <p:nvPr>
            <p:ph idx="1"/>
          </p:nvPr>
        </p:nvSpPr>
        <p:spPr>
          <a:xfrm>
            <a:off x="769015" y="864805"/>
            <a:ext cx="8946541" cy="4195481"/>
          </a:xfrm>
        </p:spPr>
        <p:txBody>
          <a:bodyPr>
            <a:noAutofit/>
          </a:bodyPr>
          <a:lstStyle/>
          <a:p>
            <a:pPr marL="0" indent="0" algn="just">
              <a:buNone/>
            </a:pPr>
            <a:r>
              <a:rPr lang="en-IN" dirty="0"/>
              <a:t>[7] Z. Fu, H. Liu, and P. Wang, “Hybrid CNN-RNN model for real-time facial emotion analysis,” </a:t>
            </a:r>
            <a:r>
              <a:rPr lang="en-IN" i="1" dirty="0"/>
              <a:t>Journal of Artificial Intelligence Research</a:t>
            </a:r>
            <a:r>
              <a:rPr lang="en-IN" dirty="0"/>
              <a:t>, vol. 18, no. 4, pp. 221–233, 2023.</a:t>
            </a:r>
          </a:p>
          <a:p>
            <a:pPr marL="0" indent="0" algn="just">
              <a:buNone/>
            </a:pPr>
            <a:r>
              <a:rPr lang="en-IN" dirty="0"/>
              <a:t>[8] G. </a:t>
            </a:r>
            <a:r>
              <a:rPr lang="en-IN" dirty="0" err="1"/>
              <a:t>Sonkavde</a:t>
            </a:r>
            <a:r>
              <a:rPr lang="en-IN" dirty="0"/>
              <a:t>, R. Mahajan, and S. Patil, “Artificial intelligence techniques for human emotion and </a:t>
            </a:r>
            <a:r>
              <a:rPr lang="en-IN" dirty="0" err="1"/>
              <a:t>behavior</a:t>
            </a:r>
            <a:r>
              <a:rPr lang="en-IN" dirty="0"/>
              <a:t> analysis,” </a:t>
            </a:r>
            <a:r>
              <a:rPr lang="en-IN" i="1" dirty="0"/>
              <a:t>International Journal of Advanced Computer Science and Applications</a:t>
            </a:r>
            <a:r>
              <a:rPr lang="en-IN" dirty="0"/>
              <a:t>, vol. 14, no. 1, pp. 112–121, 2023.</a:t>
            </a:r>
          </a:p>
          <a:p>
            <a:pPr marL="0" indent="0" algn="just">
              <a:buNone/>
            </a:pPr>
            <a:r>
              <a:rPr lang="en-IN" dirty="0"/>
              <a:t>[9] A. Sharma, P. Verma, and R. Gupta, “Lightweight CNN model for real-time emotion recognition,” </a:t>
            </a:r>
            <a:r>
              <a:rPr lang="en-IN" i="1" dirty="0"/>
              <a:t>Procedia Computer Science</a:t>
            </a:r>
            <a:r>
              <a:rPr lang="en-IN" dirty="0"/>
              <a:t>, vol. 225, pp. 105–114, 2024.</a:t>
            </a:r>
          </a:p>
          <a:p>
            <a:pPr marL="0" indent="0" algn="just">
              <a:buNone/>
            </a:pPr>
            <a:r>
              <a:rPr lang="en-IN" dirty="0"/>
              <a:t>[10] H. Kim and S. Lee, “Graph neural networks for facial emotion recognition,” </a:t>
            </a:r>
            <a:r>
              <a:rPr lang="en-IN" i="1" dirty="0"/>
              <a:t>IEEE Access</a:t>
            </a:r>
            <a:r>
              <a:rPr lang="en-IN" dirty="0"/>
              <a:t>, vol. 12, pp. 55210–55222, 2024.</a:t>
            </a:r>
          </a:p>
          <a:p>
            <a:pPr marL="0" indent="0" algn="just">
              <a:buNone/>
            </a:pPr>
            <a:r>
              <a:rPr lang="en-IN" dirty="0"/>
              <a:t>[11] R. Ahmed, T. Khan, and S. Ali, “Personalized baseline calibration for adaptive emotion recognition,” </a:t>
            </a:r>
            <a:r>
              <a:rPr lang="en-IN" i="1" dirty="0"/>
              <a:t>Journal of Machine Learning Applications</a:t>
            </a:r>
            <a:r>
              <a:rPr lang="en-IN" dirty="0"/>
              <a:t>, vol. 9, no. 2, pp. 88–97, 2025.</a:t>
            </a:r>
          </a:p>
          <a:p>
            <a:pPr marL="0" indent="0" algn="just">
              <a:buNone/>
            </a:pPr>
            <a:r>
              <a:rPr lang="en-IN" dirty="0"/>
              <a:t>[12] X. Chen, L. Zhang, and Y. Zhou, “Multimodal affective computing framework for intelligent human interaction,” </a:t>
            </a:r>
            <a:r>
              <a:rPr lang="en-IN" i="1" dirty="0"/>
              <a:t>IEEE Transactions on Multimedia</a:t>
            </a:r>
            <a:r>
              <a:rPr lang="en-IN" dirty="0"/>
              <a:t>, vol. 27, pp. 145–158, 2025.</a:t>
            </a:r>
          </a:p>
          <a:p>
            <a:pPr marL="0" indent="0" algn="just">
              <a:buNone/>
            </a:pPr>
            <a:endParaRPr lang="en-IN" dirty="0"/>
          </a:p>
        </p:txBody>
      </p:sp>
    </p:spTree>
    <p:extLst>
      <p:ext uri="{BB962C8B-B14F-4D97-AF65-F5344CB8AC3E}">
        <p14:creationId xmlns:p14="http://schemas.microsoft.com/office/powerpoint/2010/main" val="96030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8B2D-83B5-271D-0F4E-4CB801526073}"/>
              </a:ext>
            </a:extLst>
          </p:cNvPr>
          <p:cNvSpPr>
            <a:spLocks noGrp="1"/>
          </p:cNvSpPr>
          <p:nvPr>
            <p:ph type="title"/>
          </p:nvPr>
        </p:nvSpPr>
        <p:spPr>
          <a:xfrm>
            <a:off x="1393638" y="2728735"/>
            <a:ext cx="9404723" cy="1400530"/>
          </a:xfrm>
        </p:spPr>
        <p:txBody>
          <a:bodyPr/>
          <a:lstStyle/>
          <a:p>
            <a:pPr algn="ctr"/>
            <a:r>
              <a:rPr lang="en-IN" sz="7200" dirty="0"/>
              <a:t>THANK YOU</a:t>
            </a:r>
          </a:p>
        </p:txBody>
      </p:sp>
    </p:spTree>
    <p:extLst>
      <p:ext uri="{BB962C8B-B14F-4D97-AF65-F5344CB8AC3E}">
        <p14:creationId xmlns:p14="http://schemas.microsoft.com/office/powerpoint/2010/main" val="4066504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Custom 2">
      <a:majorFont>
        <a:latin typeface="Calibri"/>
        <a:ea typeface=""/>
        <a:cs typeface=""/>
      </a:majorFont>
      <a:minorFont>
        <a:latin typeface="Calibri"/>
        <a:ea typeface=""/>
        <a:cs typeface=""/>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171</TotalTime>
  <Words>1680</Words>
  <Application>Microsoft Office PowerPoint</Application>
  <PresentationFormat>Widescreen</PresentationFormat>
  <Paragraphs>185</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Calibri</vt:lpstr>
      <vt:lpstr>Wingdings 3</vt:lpstr>
      <vt:lpstr>Ion</vt:lpstr>
      <vt:lpstr>PowerPoint Presentation</vt:lpstr>
      <vt:lpstr>Introduction</vt:lpstr>
      <vt:lpstr>PowerPoint Presentation</vt:lpstr>
      <vt:lpstr>Problem Statement</vt:lpstr>
      <vt:lpstr>Motivation and Scope</vt:lpstr>
      <vt:lpstr>Objectives</vt:lpstr>
      <vt:lpstr>Literature Survey</vt:lpstr>
      <vt:lpstr>Literature Survey</vt:lpstr>
      <vt:lpstr>Dataset Description (FER-2013)</vt:lpstr>
      <vt:lpstr>Dataset Description (FER-2013)</vt:lpstr>
      <vt:lpstr>System Architecture</vt:lpstr>
      <vt:lpstr>Methodology</vt:lpstr>
      <vt:lpstr>PowerPoint Presentation</vt:lpstr>
      <vt:lpstr>Model Development and Experimental Comparison</vt:lpstr>
      <vt:lpstr>ConvNeXt-Tiny Architecture</vt:lpstr>
      <vt:lpstr>Results and Performance Evaluation</vt:lpstr>
      <vt:lpstr>Results and Performance Evaluation</vt:lpstr>
      <vt:lpstr>Conclusion and Future Scope</vt:lpstr>
      <vt:lpstr>Conclusion and Future Scope</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Susheel kumar</dc:creator>
  <cp:lastModifiedBy>Susheel kumar</cp:lastModifiedBy>
  <cp:revision>5</cp:revision>
  <dcterms:created xsi:type="dcterms:W3CDTF">2026-06-10T15:45:34Z</dcterms:created>
  <dcterms:modified xsi:type="dcterms:W3CDTF">2026-06-10T18:48:10Z</dcterms:modified>
</cp:coreProperties>
</file>