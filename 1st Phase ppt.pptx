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66" r:id="rId5"/>
    <p:sldId id="259" r:id="rId6"/>
    <p:sldId id="260" r:id="rId7"/>
    <p:sldId id="261" r:id="rId8"/>
    <p:sldId id="262" r:id="rId9"/>
    <p:sldId id="267" r:id="rId10"/>
    <p:sldId id="268" r:id="rId11"/>
    <p:sldId id="269" r:id="rId12"/>
    <p:sldId id="270" r:id="rId13"/>
    <p:sldId id="271" r:id="rId14"/>
    <p:sldId id="272" r:id="rId15"/>
    <p:sldId id="265" r:id="rId16"/>
    <p:sldId id="263" r:id="rId17"/>
    <p:sldId id="264"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QwuzUAOc1cB9nM4HePRx26O3k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2EE5E8-430B-4DDC-A6C1-23BFF62ECF60}">
  <a:tblStyle styleId="{C62EE5E8-430B-4DDC-A6C1-23BFF62ECF6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a:tcStyle>
        <a:tcBdr/>
        <a:fill>
          <a:solidFill>
            <a:srgbClr val="F5D8CA"/>
          </a:solidFill>
        </a:fill>
      </a:tcStyle>
    </a:band1H>
    <a:band2H>
      <a:tcTxStyle/>
      <a:tcStyle>
        <a:tcBdr/>
      </a:tcStyle>
    </a:band2H>
    <a:band1V>
      <a:tcTxStyle/>
      <a:tcStyle>
        <a:tcBdr/>
        <a:fill>
          <a:solidFill>
            <a:srgbClr val="F5D8C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3" d="100"/>
          <a:sy n="73" d="100"/>
        </p:scale>
        <p:origin x="1042" y="8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2"/>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1" name="Google Shape;21;p12"/>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2" name="Google Shape;22;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24" name="Google Shape;24;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8" name="Google Shape;28;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30" name="Google Shape;30;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1"/>
        <p:cNvGrpSpPr/>
        <p:nvPr/>
      </p:nvGrpSpPr>
      <p:grpSpPr>
        <a:xfrm>
          <a:off x="0" y="0"/>
          <a:ext cx="0" cy="0"/>
          <a:chOff x="0" y="0"/>
          <a:chExt cx="0" cy="0"/>
        </a:xfrm>
      </p:grpSpPr>
      <p:sp>
        <p:nvSpPr>
          <p:cNvPr id="32" name="Google Shape;32;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36" name="Google Shape;36;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38" name="Google Shape;38;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9" name="Google Shape;39;p1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0"/>
        <p:cNvGrpSpPr/>
        <p:nvPr/>
      </p:nvGrpSpPr>
      <p:grpSpPr>
        <a:xfrm>
          <a:off x="0" y="0"/>
          <a:ext cx="0" cy="0"/>
          <a:chOff x="0" y="0"/>
          <a:chExt cx="0" cy="0"/>
        </a:xfrm>
      </p:grpSpPr>
      <p:sp>
        <p:nvSpPr>
          <p:cNvPr id="41" name="Google Shape;41;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5" name="Google Shape;45;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47" name="Google Shape;47;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8" name="Google Shape;48;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2" name="Google Shape;52;p1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3" name="Google Shape;53;p16"/>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16"/>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57" name="Google Shape;57;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62" name="Google Shape;62;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1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68" name="Google Shape;68;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1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1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1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77" name="Google Shape;77;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2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3" name="Google Shape;83;p2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86" name="Google Shape;86;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92" name="Google Shape;92;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100" name="Google Shape;100;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Mini Project (ISP67)</a:t>
            </a:r>
            <a:endParaRPr/>
          </a:p>
        </p:txBody>
      </p:sp>
      <p:sp>
        <p:nvSpPr>
          <p:cNvPr id="16" name="Google Shape;16;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title"/>
          </p:nvPr>
        </p:nvSpPr>
        <p:spPr>
          <a:xfrm>
            <a:off x="1097279" y="1720548"/>
            <a:ext cx="10058400" cy="88669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en-US" dirty="0"/>
              <a:t>E-Motion Companion</a:t>
            </a:r>
            <a:endParaRPr dirty="0"/>
          </a:p>
        </p:txBody>
      </p:sp>
      <p:sp>
        <p:nvSpPr>
          <p:cNvPr id="107" name="Google Shape;107;p1"/>
          <p:cNvSpPr txBox="1">
            <a:spLocks noGrp="1"/>
          </p:cNvSpPr>
          <p:nvPr>
            <p:ph type="body" idx="1"/>
          </p:nvPr>
        </p:nvSpPr>
        <p:spPr>
          <a:xfrm>
            <a:off x="1097279" y="3269672"/>
            <a:ext cx="4652357" cy="2599421"/>
          </a:xfrm>
          <a:prstGeom prst="rect">
            <a:avLst/>
          </a:prstGeom>
          <a:noFill/>
          <a:ln>
            <a:noFill/>
          </a:ln>
        </p:spPr>
        <p:txBody>
          <a:bodyPr spcFirstLastPara="1" wrap="square" lIns="0" tIns="45700" rIns="0" bIns="45700" anchor="t" anchorCtr="0">
            <a:normAutofit lnSpcReduction="10000"/>
          </a:bodyPr>
          <a:lstStyle/>
          <a:p>
            <a:pPr marL="91440" lvl="0" indent="-127000" algn="l" rtl="0">
              <a:lnSpc>
                <a:spcPct val="90000"/>
              </a:lnSpc>
              <a:spcBef>
                <a:spcPts val="0"/>
              </a:spcBef>
              <a:spcAft>
                <a:spcPts val="0"/>
              </a:spcAft>
              <a:buSzPts val="2000"/>
              <a:buChar char=" "/>
            </a:pPr>
            <a:r>
              <a:rPr lang="en-US" b="1" dirty="0"/>
              <a:t>Team Members:</a:t>
            </a:r>
            <a:endParaRPr dirty="0"/>
          </a:p>
          <a:p>
            <a:pPr marL="91440" lvl="0" indent="-127000" algn="l" rtl="0">
              <a:lnSpc>
                <a:spcPct val="90000"/>
              </a:lnSpc>
              <a:spcBef>
                <a:spcPts val="1400"/>
              </a:spcBef>
              <a:spcAft>
                <a:spcPts val="0"/>
              </a:spcAft>
              <a:buSzPts val="2000"/>
              <a:buChar char=" "/>
            </a:pPr>
            <a:r>
              <a:rPr lang="en-US" b="1" dirty="0"/>
              <a:t>USN</a:t>
            </a:r>
            <a:r>
              <a:rPr lang="en-US" dirty="0"/>
              <a:t> 		       </a:t>
            </a:r>
            <a:r>
              <a:rPr lang="en-US" b="1" dirty="0"/>
              <a:t>Name</a:t>
            </a:r>
          </a:p>
          <a:p>
            <a:pPr marL="91440" lvl="0" indent="-127000" algn="l" rtl="0">
              <a:lnSpc>
                <a:spcPct val="90000"/>
              </a:lnSpc>
              <a:spcBef>
                <a:spcPts val="1400"/>
              </a:spcBef>
              <a:spcAft>
                <a:spcPts val="0"/>
              </a:spcAft>
              <a:buSzPts val="2000"/>
              <a:buChar char=" "/>
            </a:pPr>
            <a:r>
              <a:rPr lang="en-US" b="1" dirty="0"/>
              <a:t>1MS23IS118	       Shreyas S G</a:t>
            </a:r>
          </a:p>
          <a:p>
            <a:pPr marL="91440" lvl="0" indent="-127000" algn="l" rtl="0">
              <a:lnSpc>
                <a:spcPct val="90000"/>
              </a:lnSpc>
              <a:spcBef>
                <a:spcPts val="1400"/>
              </a:spcBef>
              <a:spcAft>
                <a:spcPts val="0"/>
              </a:spcAft>
              <a:buSzPts val="2000"/>
              <a:buChar char=" "/>
            </a:pPr>
            <a:r>
              <a:rPr lang="en-US" b="1" dirty="0"/>
              <a:t>1MS23IS132	       Susheel Kumar</a:t>
            </a:r>
          </a:p>
          <a:p>
            <a:pPr marL="91440" lvl="0" indent="-127000" algn="l" rtl="0">
              <a:lnSpc>
                <a:spcPct val="90000"/>
              </a:lnSpc>
              <a:spcBef>
                <a:spcPts val="1400"/>
              </a:spcBef>
              <a:spcAft>
                <a:spcPts val="0"/>
              </a:spcAft>
              <a:buSzPts val="2000"/>
              <a:buChar char=" "/>
            </a:pPr>
            <a:r>
              <a:rPr lang="en-US" b="1" dirty="0"/>
              <a:t>1MS23IS134 	       Thilak M</a:t>
            </a:r>
          </a:p>
          <a:p>
            <a:pPr marL="91440" lvl="0" indent="-127000" algn="l" rtl="0">
              <a:lnSpc>
                <a:spcPct val="90000"/>
              </a:lnSpc>
              <a:spcBef>
                <a:spcPts val="1400"/>
              </a:spcBef>
              <a:spcAft>
                <a:spcPts val="0"/>
              </a:spcAft>
              <a:buSzPts val="2000"/>
              <a:buChar char=" "/>
            </a:pPr>
            <a:r>
              <a:rPr lang="en-US" b="1" dirty="0"/>
              <a:t>1MS23IS141 	       Varun R</a:t>
            </a:r>
            <a:endParaRPr b="1" dirty="0"/>
          </a:p>
        </p:txBody>
      </p:sp>
      <p:sp>
        <p:nvSpPr>
          <p:cNvPr id="108" name="Google Shape;108;p1"/>
          <p:cNvSpPr txBox="1">
            <a:spLocks noGrp="1"/>
          </p:cNvSpPr>
          <p:nvPr>
            <p:ph type="body" idx="2"/>
          </p:nvPr>
        </p:nvSpPr>
        <p:spPr>
          <a:xfrm>
            <a:off x="6885708" y="3041965"/>
            <a:ext cx="4269971" cy="282713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dirty="0"/>
              <a:t>Guided By:</a:t>
            </a:r>
            <a:endParaRPr dirty="0"/>
          </a:p>
          <a:p>
            <a:pPr marL="91440" lvl="0" indent="-127000" algn="l" rtl="0">
              <a:lnSpc>
                <a:spcPct val="90000"/>
              </a:lnSpc>
              <a:spcBef>
                <a:spcPts val="1400"/>
              </a:spcBef>
              <a:spcAft>
                <a:spcPts val="0"/>
              </a:spcAft>
              <a:buSzPts val="2000"/>
              <a:buChar char=" "/>
            </a:pPr>
            <a:r>
              <a:rPr lang="en-US" b="1" dirty="0"/>
              <a:t>Shruti J R</a:t>
            </a:r>
            <a:endParaRPr b="1" dirty="0"/>
          </a:p>
          <a:p>
            <a:pPr marL="91440" lvl="0" indent="-101600" algn="l" rtl="0">
              <a:lnSpc>
                <a:spcPct val="90000"/>
              </a:lnSpc>
              <a:spcBef>
                <a:spcPts val="1400"/>
              </a:spcBef>
              <a:spcAft>
                <a:spcPts val="0"/>
              </a:spcAft>
              <a:buSzPts val="1600"/>
              <a:buChar char=" "/>
            </a:pPr>
            <a:r>
              <a:rPr lang="en-US" sz="1600" dirty="0">
                <a:solidFill>
                  <a:schemeClr val="dk1"/>
                </a:solidFill>
              </a:rPr>
              <a:t>.</a:t>
            </a:r>
            <a:endParaRPr sz="1600" dirty="0"/>
          </a:p>
          <a:p>
            <a:pPr marL="91440" lvl="0" indent="0" algn="l" rtl="0">
              <a:lnSpc>
                <a:spcPct val="90000"/>
              </a:lnSpc>
              <a:spcBef>
                <a:spcPts val="1400"/>
              </a:spcBef>
              <a:spcAft>
                <a:spcPts val="0"/>
              </a:spcAft>
              <a:buSzPts val="2000"/>
              <a:buNone/>
            </a:pPr>
            <a:endParaRPr b="1" dirty="0"/>
          </a:p>
        </p:txBody>
      </p:sp>
      <p:sp>
        <p:nvSpPr>
          <p:cNvPr id="109" name="Google Shape;109;p1"/>
          <p:cNvSpPr txBox="1">
            <a:spLocks noGrp="1"/>
          </p:cNvSpPr>
          <p:nvPr>
            <p:ph type="ftr" idx="11"/>
          </p:nvPr>
        </p:nvSpPr>
        <p:spPr>
          <a:xfrm>
            <a:off x="914400" y="6303819"/>
            <a:ext cx="9365673" cy="521092"/>
          </a:xfrm>
          <a:prstGeom prst="rect">
            <a:avLst/>
          </a:prstGeom>
          <a:noFill/>
          <a:ln>
            <a:noFill/>
          </a:ln>
        </p:spPr>
        <p:txBody>
          <a:bodyPr spcFirstLastPara="1" wrap="square" lIns="91425" tIns="45700" rIns="91425" bIns="45700" anchor="ctr" anchorCtr="0">
            <a:noAutofit/>
          </a:bodyPr>
          <a:lstStyle/>
          <a:p>
            <a:pPr lvl="0"/>
            <a:r>
              <a:rPr lang="en-US" sz="1100"/>
              <a:t>Mini Project (ISP67)</a:t>
            </a:r>
            <a:endParaRPr sz="1100" dirty="0"/>
          </a:p>
        </p:txBody>
      </p:sp>
      <p:sp>
        <p:nvSpPr>
          <p:cNvPr id="110" name="Google Shape;110;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11" name="Google Shape;111;p1" descr="C:\Users\Admin\Desktop\Logo_21.06.2017.jpg"/>
          <p:cNvPicPr preferRelativeResize="0"/>
          <p:nvPr/>
        </p:nvPicPr>
        <p:blipFill rotWithShape="1">
          <a:blip r:embed="rId3">
            <a:alphaModFix/>
          </a:blip>
          <a:srcRect/>
          <a:stretch/>
        </p:blipFill>
        <p:spPr>
          <a:xfrm>
            <a:off x="817418" y="388794"/>
            <a:ext cx="2119746" cy="858115"/>
          </a:xfrm>
          <a:prstGeom prst="rect">
            <a:avLst/>
          </a:prstGeom>
          <a:noFill/>
          <a:ln>
            <a:noFill/>
          </a:ln>
        </p:spPr>
      </p:pic>
      <p:sp>
        <p:nvSpPr>
          <p:cNvPr id="112" name="Google Shape;112;p1"/>
          <p:cNvSpPr txBox="1"/>
          <p:nvPr/>
        </p:nvSpPr>
        <p:spPr>
          <a:xfrm>
            <a:off x="5960224" y="563978"/>
            <a:ext cx="519545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Calibri"/>
                <a:ea typeface="Calibri"/>
                <a:cs typeface="Calibri"/>
                <a:sym typeface="Calibri"/>
              </a:rPr>
              <a:t>Dept of Information Science &amp; Engineering</a:t>
            </a:r>
            <a:endParaRPr sz="1800" b="1">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Introduction</a:t>
            </a:r>
            <a:endParaRPr/>
          </a:p>
        </p:txBody>
      </p:sp>
      <p:sp>
        <p:nvSpPr>
          <p:cNvPr id="119" name="Google Shape;119;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dirty="0"/>
              <a:t>Mini Project (ISP67)</a:t>
            </a:r>
            <a:endParaRPr dirty="0"/>
          </a:p>
        </p:txBody>
      </p:sp>
      <p:sp>
        <p:nvSpPr>
          <p:cNvPr id="120" name="Google Shape;120;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6" name="Text Placeholder 5">
            <a:extLst>
              <a:ext uri="{FF2B5EF4-FFF2-40B4-BE49-F238E27FC236}">
                <a16:creationId xmlns:a16="http://schemas.microsoft.com/office/drawing/2014/main" id="{A689812C-3A48-0698-D45C-8D04298847F4}"/>
              </a:ext>
            </a:extLst>
          </p:cNvPr>
          <p:cNvSpPr>
            <a:spLocks noGrp="1"/>
          </p:cNvSpPr>
          <p:nvPr>
            <p:ph type="body" idx="1"/>
          </p:nvPr>
        </p:nvSpPr>
        <p:spPr>
          <a:xfrm>
            <a:off x="941727" y="1737360"/>
            <a:ext cx="10058400" cy="4023360"/>
          </a:xfrm>
        </p:spPr>
        <p:txBody>
          <a:bodyPr>
            <a:normAutofit fontScale="70000" lnSpcReduction="20000"/>
          </a:bodyPr>
          <a:lstStyle/>
          <a:p>
            <a:pPr algn="just">
              <a:lnSpc>
                <a:spcPct val="150000"/>
              </a:lnSpc>
            </a:pPr>
            <a:r>
              <a:rPr lang="en-US" sz="2300" dirty="0">
                <a:solidFill>
                  <a:schemeClr val="tx1">
                    <a:lumMod val="95000"/>
                    <a:lumOff val="5000"/>
                  </a:schemeClr>
                </a:solidFill>
                <a:latin typeface="Arial" panose="020B0604020202020204" pitchFamily="34" charset="0"/>
                <a:cs typeface="Arial" panose="020B0604020202020204" pitchFamily="34" charset="0"/>
              </a:rPr>
              <a:t>Real-time facial emotion recognition systems primarily detect and classify basic human emotions using camera input. However, most existing systems are developed for surveillance, monitoring, or statistical analysis rather than for direct user interaction.</a:t>
            </a:r>
          </a:p>
          <a:p>
            <a:pPr algn="just">
              <a:lnSpc>
                <a:spcPct val="150000"/>
              </a:lnSpc>
            </a:pPr>
            <a:r>
              <a:rPr lang="en-US" sz="2300" dirty="0">
                <a:solidFill>
                  <a:schemeClr val="tx1">
                    <a:lumMod val="95000"/>
                    <a:lumOff val="5000"/>
                  </a:schemeClr>
                </a:solidFill>
                <a:latin typeface="Arial" panose="020B0604020202020204" pitchFamily="34" charset="0"/>
                <a:cs typeface="Arial" panose="020B0604020202020204" pitchFamily="34" charset="0"/>
              </a:rPr>
              <a:t>This project addresses that limitation by designing an integrated system capable of:</a:t>
            </a:r>
          </a:p>
          <a:p>
            <a:pPr algn="just">
              <a:lnSpc>
                <a:spcPct val="150000"/>
              </a:lnSpc>
              <a:buFont typeface="Arial" panose="020B0604020202020204" pitchFamily="34" charset="0"/>
              <a:buChar char="•"/>
            </a:pPr>
            <a:r>
              <a:rPr lang="en-US" sz="2300" dirty="0">
                <a:solidFill>
                  <a:schemeClr val="tx1">
                    <a:lumMod val="95000"/>
                    <a:lumOff val="5000"/>
                  </a:schemeClr>
                </a:solidFill>
                <a:latin typeface="Arial" panose="020B0604020202020204" pitchFamily="34" charset="0"/>
                <a:cs typeface="Arial" panose="020B0604020202020204" pitchFamily="34" charset="0"/>
              </a:rPr>
              <a:t>Recognizing emotions continuously from live webcam video.</a:t>
            </a:r>
          </a:p>
          <a:p>
            <a:pPr algn="just">
              <a:lnSpc>
                <a:spcPct val="150000"/>
              </a:lnSpc>
              <a:buFont typeface="Arial" panose="020B0604020202020204" pitchFamily="34" charset="0"/>
              <a:buChar char="•"/>
            </a:pPr>
            <a:r>
              <a:rPr lang="en-US" sz="2300" dirty="0">
                <a:solidFill>
                  <a:schemeClr val="tx1">
                    <a:lumMod val="95000"/>
                    <a:lumOff val="5000"/>
                  </a:schemeClr>
                </a:solidFill>
                <a:latin typeface="Arial" panose="020B0604020202020204" pitchFamily="34" charset="0"/>
                <a:cs typeface="Arial" panose="020B0604020202020204" pitchFamily="34" charset="0"/>
              </a:rPr>
              <a:t>Responding with empathetic, context-aware conversational replies.</a:t>
            </a:r>
          </a:p>
          <a:p>
            <a:pPr algn="just">
              <a:lnSpc>
                <a:spcPct val="150000"/>
              </a:lnSpc>
              <a:buFont typeface="Arial" panose="020B0604020202020204" pitchFamily="34" charset="0"/>
              <a:buChar char="•"/>
            </a:pPr>
            <a:r>
              <a:rPr lang="en-US" sz="2300" dirty="0">
                <a:solidFill>
                  <a:schemeClr val="tx1">
                    <a:lumMod val="95000"/>
                    <a:lumOff val="5000"/>
                  </a:schemeClr>
                </a:solidFill>
                <a:latin typeface="Arial" panose="020B0604020202020204" pitchFamily="34" charset="0"/>
                <a:cs typeface="Arial" panose="020B0604020202020204" pitchFamily="34" charset="0"/>
              </a:rPr>
              <a:t>Suggesting music that aligns with the user’s emotional state.</a:t>
            </a:r>
          </a:p>
          <a:p>
            <a:pPr algn="just">
              <a:lnSpc>
                <a:spcPct val="150000"/>
              </a:lnSpc>
            </a:pPr>
            <a:r>
              <a:rPr lang="en-US" sz="2300" dirty="0">
                <a:solidFill>
                  <a:schemeClr val="tx1">
                    <a:lumMod val="95000"/>
                    <a:lumOff val="5000"/>
                  </a:schemeClr>
                </a:solidFill>
                <a:latin typeface="Arial" panose="020B0604020202020204" pitchFamily="34" charset="0"/>
                <a:cs typeface="Arial" panose="020B0604020202020204" pitchFamily="34" charset="0"/>
              </a:rPr>
              <a:t>By combining computer vision, AI-driven dialogue models, and recommendation logic, this project aims to create a more human-centric and supportive digital companion.</a:t>
            </a:r>
            <a:endParaRPr lang="en-IN" sz="2300" dirty="0">
              <a:solidFill>
                <a:schemeClr val="tx1">
                  <a:lumMod val="95000"/>
                  <a:lumOff val="5000"/>
                </a:schemeClr>
              </a:solidFill>
              <a:latin typeface="Arial" panose="020B0604020202020204" pitchFamily="34" charset="0"/>
              <a:cs typeface="Arial" panose="020B0604020202020204" pitchFamily="34"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Motivation and Scope</a:t>
            </a:r>
            <a:endParaRPr dirty="0"/>
          </a:p>
        </p:txBody>
      </p:sp>
      <p:sp>
        <p:nvSpPr>
          <p:cNvPr id="126" name="Google Shape;126;p3"/>
          <p:cNvSpPr txBox="1">
            <a:spLocks noGrp="1"/>
          </p:cNvSpPr>
          <p:nvPr>
            <p:ph type="body" idx="1"/>
          </p:nvPr>
        </p:nvSpPr>
        <p:spPr>
          <a:xfrm>
            <a:off x="929115" y="1856060"/>
            <a:ext cx="10058400" cy="4023360"/>
          </a:xfrm>
          <a:prstGeom prst="rect">
            <a:avLst/>
          </a:prstGeom>
          <a:noFill/>
          <a:ln>
            <a:noFill/>
          </a:ln>
        </p:spPr>
        <p:txBody>
          <a:bodyPr spcFirstLastPara="1" wrap="square" lIns="0" tIns="45700" rIns="0" bIns="45700" anchor="t" anchorCtr="0">
            <a:normAutofit fontScale="77500" lnSpcReduction="20000"/>
          </a:bodyPr>
          <a:lstStyle/>
          <a:p>
            <a:pPr marL="0" lvl="0" indent="0" algn="just" rtl="0">
              <a:lnSpc>
                <a:spcPct val="90000"/>
              </a:lnSpc>
              <a:spcBef>
                <a:spcPts val="0"/>
              </a:spcBef>
              <a:spcAft>
                <a:spcPts val="0"/>
              </a:spcAft>
              <a:buSzPts val="2000"/>
              <a:buNone/>
            </a:pPr>
            <a:endParaRPr dirty="0"/>
          </a:p>
          <a:p>
            <a:pPr algn="just">
              <a:lnSpc>
                <a:spcPct val="150000"/>
              </a:lnSpc>
            </a:pPr>
            <a:r>
              <a:rPr lang="en-US" dirty="0">
                <a:latin typeface="Arial" panose="020B0604020202020204" pitchFamily="34" charset="0"/>
                <a:cs typeface="Arial" panose="020B0604020202020204" pitchFamily="34" charset="0"/>
              </a:rPr>
              <a:t>In today’s fast paced environment, many individuals especially students and introverts experience stress, loneliness and emotional fluctuations but hesitate to seek help. Traditional emotional support systems are often inaccessible, non interactive, or lack personalization.</a:t>
            </a:r>
          </a:p>
          <a:p>
            <a:pPr algn="just">
              <a:lnSpc>
                <a:spcPct val="150000"/>
              </a:lnSpc>
            </a:pPr>
            <a:r>
              <a:rPr lang="en-US" dirty="0">
                <a:latin typeface="Arial" panose="020B0604020202020204" pitchFamily="34" charset="0"/>
                <a:cs typeface="Arial" panose="020B0604020202020204" pitchFamily="34" charset="0"/>
              </a:rPr>
              <a:t>With rapid advancements in AI, there is a strong opportunity to build tools that go beyond simple emotion detection. Real time affective computing combined with conversational AI can create a digital companion that not only recognizes how a user feels, but also responds empathetically, offers comforting dialogue, and provides mood-appropriate music to regulate emotions.</a:t>
            </a:r>
          </a:p>
          <a:p>
            <a:pPr algn="just">
              <a:lnSpc>
                <a:spcPct val="150000"/>
              </a:lnSpc>
            </a:pPr>
            <a:r>
              <a:rPr lang="en-US" dirty="0">
                <a:latin typeface="Arial" panose="020B0604020202020204" pitchFamily="34" charset="0"/>
                <a:cs typeface="Arial" panose="020B0604020202020204" pitchFamily="34" charset="0"/>
              </a:rPr>
              <a:t>This integration of computer vision, AI conversation, and personalized music recommendation addresses a major gap in existing systems making emotional support more immediate, engaging, and human centric.</a:t>
            </a:r>
          </a:p>
          <a:p>
            <a:pPr marL="457200" lvl="0" indent="-330200" algn="just" rtl="0">
              <a:lnSpc>
                <a:spcPct val="90000"/>
              </a:lnSpc>
              <a:spcBef>
                <a:spcPts val="1400"/>
              </a:spcBef>
              <a:spcAft>
                <a:spcPts val="0"/>
              </a:spcAft>
              <a:buSzPts val="2000"/>
              <a:buFont typeface="Calibri"/>
              <a:buNone/>
            </a:pPr>
            <a:endParaRPr dirty="0"/>
          </a:p>
        </p:txBody>
      </p:sp>
      <p:sp>
        <p:nvSpPr>
          <p:cNvPr id="127" name="Google Shape;127;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dirty="0"/>
              <a:t>Mini Project (ISP67)</a:t>
            </a:r>
            <a:endParaRPr dirty="0"/>
          </a:p>
        </p:txBody>
      </p:sp>
      <p:sp>
        <p:nvSpPr>
          <p:cNvPr id="128" name="Google Shape;128;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2" name="TextBox 1">
            <a:extLst>
              <a:ext uri="{FF2B5EF4-FFF2-40B4-BE49-F238E27FC236}">
                <a16:creationId xmlns:a16="http://schemas.microsoft.com/office/drawing/2014/main" id="{AB5AAFC0-AD2C-F711-250A-8432CF9E2DF2}"/>
              </a:ext>
            </a:extLst>
          </p:cNvPr>
          <p:cNvSpPr txBox="1"/>
          <p:nvPr/>
        </p:nvSpPr>
        <p:spPr>
          <a:xfrm>
            <a:off x="1278440" y="1737360"/>
            <a:ext cx="7772400" cy="461665"/>
          </a:xfrm>
          <a:prstGeom prst="rect">
            <a:avLst/>
          </a:prstGeom>
          <a:noFill/>
        </p:spPr>
        <p:txBody>
          <a:bodyPr wrap="square" rtlCol="0">
            <a:spAutoFit/>
          </a:bodyPr>
          <a:lstStyle/>
          <a:p>
            <a:r>
              <a:rPr lang="en-US" sz="2400" b="1" dirty="0"/>
              <a:t>Motivation:</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5307E-ABE8-AC63-0AF8-99B1B59F03B1}"/>
              </a:ext>
            </a:extLst>
          </p:cNvPr>
          <p:cNvSpPr>
            <a:spLocks noGrp="1"/>
          </p:cNvSpPr>
          <p:nvPr>
            <p:ph type="title"/>
          </p:nvPr>
        </p:nvSpPr>
        <p:spPr>
          <a:xfrm>
            <a:off x="1154083" y="317467"/>
            <a:ext cx="10058400" cy="1450757"/>
          </a:xfrm>
        </p:spPr>
        <p:txBody>
          <a:bodyPr>
            <a:normAutofit/>
          </a:bodyPr>
          <a:lstStyle/>
          <a:p>
            <a:r>
              <a:rPr kumimoji="0" lang="en-US" sz="4800" b="0" i="0" u="none" strike="noStrike" kern="0" cap="none" spc="0" normalizeH="0" baseline="0" noProof="0" dirty="0">
                <a:ln>
                  <a:noFill/>
                </a:ln>
                <a:solidFill>
                  <a:srgbClr val="3F3F3F"/>
                </a:solidFill>
                <a:effectLst/>
                <a:uLnTx/>
                <a:uFillTx/>
                <a:latin typeface="Calibri"/>
                <a:ea typeface="Calibri"/>
                <a:cs typeface="Calibri"/>
                <a:sym typeface="Calibri"/>
              </a:rPr>
              <a:t>Motivation and Scope</a:t>
            </a:r>
            <a:endParaRPr lang="en-IN" sz="2400" b="1" dirty="0">
              <a:latin typeface="+mj-lt"/>
            </a:endParaRPr>
          </a:p>
        </p:txBody>
      </p:sp>
      <p:sp>
        <p:nvSpPr>
          <p:cNvPr id="3" name="Text Placeholder 2">
            <a:extLst>
              <a:ext uri="{FF2B5EF4-FFF2-40B4-BE49-F238E27FC236}">
                <a16:creationId xmlns:a16="http://schemas.microsoft.com/office/drawing/2014/main" id="{99918766-B3A1-3456-CD4E-A118398FB172}"/>
              </a:ext>
            </a:extLst>
          </p:cNvPr>
          <p:cNvSpPr>
            <a:spLocks noGrp="1"/>
          </p:cNvSpPr>
          <p:nvPr>
            <p:ph type="body" idx="1"/>
          </p:nvPr>
        </p:nvSpPr>
        <p:spPr>
          <a:xfrm>
            <a:off x="993371" y="1896098"/>
            <a:ext cx="10058400" cy="4023360"/>
          </a:xfrm>
        </p:spPr>
        <p:txBody>
          <a:bodyPr/>
          <a:lstStyle/>
          <a:p>
            <a:r>
              <a:rPr lang="en-US" sz="2400" b="1" dirty="0">
                <a:latin typeface="+mj-lt"/>
              </a:rPr>
              <a:t>Scope:</a:t>
            </a:r>
          </a:p>
          <a:p>
            <a:pPr marL="285750" indent="-285750" algn="just">
              <a:lnSpc>
                <a:spcPct val="150000"/>
              </a:lnSpc>
              <a:buFont typeface="Arial" panose="020B0604020202020204" pitchFamily="34" charset="0"/>
              <a:buChar char="•"/>
            </a:pPr>
            <a:r>
              <a:rPr lang="en-US" sz="1600" dirty="0">
                <a:solidFill>
                  <a:schemeClr val="tx1">
                    <a:lumMod val="95000"/>
                    <a:lumOff val="5000"/>
                  </a:schemeClr>
                </a:solidFill>
                <a:latin typeface="Arial" panose="020B0604020202020204" pitchFamily="34" charset="0"/>
                <a:cs typeface="Arial" panose="020B0604020202020204" pitchFamily="34" charset="0"/>
              </a:rPr>
              <a:t>Implement facial emotion detection using machine learning models (e.g., CNNs).</a:t>
            </a:r>
          </a:p>
          <a:p>
            <a:pPr marL="285750" indent="-285750" algn="just">
              <a:lnSpc>
                <a:spcPct val="150000"/>
              </a:lnSpc>
              <a:buFont typeface="Arial" panose="020B0604020202020204" pitchFamily="34" charset="0"/>
              <a:buChar char="•"/>
            </a:pPr>
            <a:r>
              <a:rPr lang="en-US" sz="1600" dirty="0">
                <a:solidFill>
                  <a:schemeClr val="tx1">
                    <a:lumMod val="95000"/>
                    <a:lumOff val="5000"/>
                  </a:schemeClr>
                </a:solidFill>
                <a:latin typeface="Arial" panose="020B0604020202020204" pitchFamily="34" charset="0"/>
                <a:cs typeface="Arial" panose="020B0604020202020204" pitchFamily="34" charset="0"/>
              </a:rPr>
              <a:t>Generate human-like, empathetic responses using natural language models.</a:t>
            </a:r>
          </a:p>
          <a:p>
            <a:pPr marL="285750" indent="-285750" algn="just">
              <a:lnSpc>
                <a:spcPct val="150000"/>
              </a:lnSpc>
              <a:buFont typeface="Arial" panose="020B0604020202020204" pitchFamily="34" charset="0"/>
              <a:buChar char="•"/>
            </a:pPr>
            <a:r>
              <a:rPr lang="en-US" sz="1600" dirty="0">
                <a:solidFill>
                  <a:schemeClr val="tx1">
                    <a:lumMod val="95000"/>
                    <a:lumOff val="5000"/>
                  </a:schemeClr>
                </a:solidFill>
                <a:latin typeface="Arial" panose="020B0604020202020204" pitchFamily="34" charset="0"/>
                <a:cs typeface="Arial" panose="020B0604020202020204" pitchFamily="34" charset="0"/>
              </a:rPr>
              <a:t>Enable continuous interaction where the system updates suggestions as the user’s emotions change.</a:t>
            </a:r>
          </a:p>
          <a:p>
            <a:pPr marL="285750" indent="-285750" algn="just">
              <a:lnSpc>
                <a:spcPct val="150000"/>
              </a:lnSpc>
              <a:buFont typeface="Arial" panose="020B0604020202020204" pitchFamily="34" charset="0"/>
              <a:buChar char="•"/>
            </a:pPr>
            <a:r>
              <a:rPr lang="en-US" sz="1600" dirty="0">
                <a:solidFill>
                  <a:schemeClr val="tx1">
                    <a:lumMod val="95000"/>
                    <a:lumOff val="5000"/>
                  </a:schemeClr>
                </a:solidFill>
                <a:latin typeface="Arial" panose="020B0604020202020204" pitchFamily="34" charset="0"/>
                <a:cs typeface="Arial" panose="020B0604020202020204" pitchFamily="34" charset="0"/>
              </a:rPr>
              <a:t>Build a simple and user-friendly web interface delivering all functionalities in real time</a:t>
            </a:r>
            <a:endParaRPr lang="en-IN" sz="1600" dirty="0">
              <a:latin typeface="Arial" panose="020B0604020202020204" pitchFamily="34" charset="0"/>
              <a:cs typeface="Arial" panose="020B0604020202020204" pitchFamily="34" charset="0"/>
            </a:endParaRPr>
          </a:p>
          <a:p>
            <a:endParaRPr lang="en-IN" dirty="0"/>
          </a:p>
        </p:txBody>
      </p:sp>
      <p:sp>
        <p:nvSpPr>
          <p:cNvPr id="4" name="Footer Placeholder 3">
            <a:extLst>
              <a:ext uri="{FF2B5EF4-FFF2-40B4-BE49-F238E27FC236}">
                <a16:creationId xmlns:a16="http://schemas.microsoft.com/office/drawing/2014/main" id="{0305A1C3-1E0F-0A7F-BCF5-E20BE9779CD1}"/>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F72C91BD-C536-D17E-C1CC-A4B0A3AD5D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779540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Challenges and Issues</a:t>
            </a:r>
            <a:endParaRPr dirty="0"/>
          </a:p>
        </p:txBody>
      </p:sp>
      <p:sp>
        <p:nvSpPr>
          <p:cNvPr id="135" name="Google Shape;135;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dirty="0"/>
              <a:t>Mini Project (ISP67)</a:t>
            </a:r>
            <a:endParaRPr dirty="0"/>
          </a:p>
        </p:txBody>
      </p:sp>
      <p:sp>
        <p:nvSpPr>
          <p:cNvPr id="136" name="Google Shape;136;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3" name="Text Placeholder 2">
            <a:extLst>
              <a:ext uri="{FF2B5EF4-FFF2-40B4-BE49-F238E27FC236}">
                <a16:creationId xmlns:a16="http://schemas.microsoft.com/office/drawing/2014/main" id="{BA57483F-93A7-CBEC-1D05-B441483F00E9}"/>
              </a:ext>
            </a:extLst>
          </p:cNvPr>
          <p:cNvSpPr>
            <a:spLocks noGrp="1"/>
          </p:cNvSpPr>
          <p:nvPr>
            <p:ph type="body" idx="1"/>
          </p:nvPr>
        </p:nvSpPr>
        <p:spPr>
          <a:xfrm>
            <a:off x="837507" y="1824952"/>
            <a:ext cx="10058400" cy="4023360"/>
          </a:xfrm>
        </p:spPr>
        <p:txBody>
          <a:bodyPr>
            <a:normAutofit lnSpcReduction="10000"/>
          </a:bodyPr>
          <a:lstStyle/>
          <a:p>
            <a:pPr algn="just">
              <a:buFont typeface="Arial" panose="020B0604020202020204" pitchFamily="34" charset="0"/>
              <a:buChar char="•"/>
            </a:pPr>
            <a:r>
              <a:rPr lang="en-US" sz="1600" dirty="0">
                <a:latin typeface="+mn-lt"/>
              </a:rPr>
              <a:t>Emotion detection accuracy can be affected by poor lighting, low camera quality, or different facial angles.</a:t>
            </a:r>
          </a:p>
          <a:p>
            <a:pPr algn="just">
              <a:buFont typeface="Arial" panose="020B0604020202020204" pitchFamily="34" charset="0"/>
              <a:buChar char="•"/>
            </a:pPr>
            <a:r>
              <a:rPr lang="en-US" sz="1600" dirty="0">
                <a:latin typeface="+mn-lt"/>
              </a:rPr>
              <a:t>Facial expressions vary from person to person, making it difficult for the model to correctly classify emotions for all users.</a:t>
            </a:r>
          </a:p>
          <a:p>
            <a:pPr algn="just">
              <a:buFont typeface="Arial" panose="020B0604020202020204" pitchFamily="34" charset="0"/>
              <a:buChar char="•"/>
            </a:pPr>
            <a:r>
              <a:rPr lang="en-US" sz="1600" dirty="0">
                <a:latin typeface="+mn-lt"/>
              </a:rPr>
              <a:t>Real-time processing requirements may cause delays if the system is not optimized.</a:t>
            </a:r>
          </a:p>
          <a:p>
            <a:pPr algn="just">
              <a:buFont typeface="Arial" panose="020B0604020202020204" pitchFamily="34" charset="0"/>
              <a:buChar char="•"/>
            </a:pPr>
            <a:r>
              <a:rPr lang="en-US" sz="1600" dirty="0">
                <a:latin typeface="+mn-lt"/>
              </a:rPr>
              <a:t>Limited datasets for training may reduce the accuracy of emotion recognition models.</a:t>
            </a:r>
          </a:p>
          <a:p>
            <a:pPr algn="just">
              <a:buFont typeface="Arial" panose="020B0604020202020204" pitchFamily="34" charset="0"/>
              <a:buChar char="•"/>
            </a:pPr>
            <a:r>
              <a:rPr lang="en-US" sz="1600" dirty="0">
                <a:latin typeface="+mn-lt"/>
              </a:rPr>
              <a:t>Emotions can change quickly, making it challenging to continuously track the user's current emotional state.</a:t>
            </a:r>
          </a:p>
          <a:p>
            <a:pPr algn="just">
              <a:buFont typeface="Arial" panose="020B0604020202020204" pitchFamily="34" charset="0"/>
              <a:buChar char="•"/>
            </a:pPr>
            <a:r>
              <a:rPr lang="en-US" sz="1600" dirty="0">
                <a:latin typeface="+mn-lt"/>
              </a:rPr>
              <a:t>Understanding complex emotions like stress or mixed emotions is difficult for AI models.</a:t>
            </a:r>
          </a:p>
          <a:p>
            <a:pPr algn="just">
              <a:buFont typeface="Arial" panose="020B0604020202020204" pitchFamily="34" charset="0"/>
              <a:buChar char="•"/>
            </a:pPr>
            <a:r>
              <a:rPr lang="en-US" sz="1600" dirty="0">
                <a:latin typeface="+mn-lt"/>
              </a:rPr>
              <a:t>Generating empathetic chatbot responses that feel natural and supportive is challenging.</a:t>
            </a:r>
          </a:p>
          <a:p>
            <a:pPr algn="just">
              <a:buFont typeface="Arial" panose="020B0604020202020204" pitchFamily="34" charset="0"/>
              <a:buChar char="•"/>
            </a:pPr>
            <a:r>
              <a:rPr lang="en-US" sz="1600" dirty="0">
                <a:latin typeface="+mn-lt"/>
              </a:rPr>
              <a:t>Music recommendation may not always match user preferences, since people may listen to different types of music even when they feel the same emotion.</a:t>
            </a:r>
          </a:p>
          <a:p>
            <a:pPr algn="just">
              <a:buFont typeface="Arial" panose="020B0604020202020204" pitchFamily="34" charset="0"/>
              <a:buChar char="•"/>
            </a:pPr>
            <a:r>
              <a:rPr lang="en-US" sz="1600" dirty="0">
                <a:latin typeface="+mn-lt"/>
              </a:rPr>
              <a:t>System integration complexity, as the project combines multiple modules such as emotion detection, chatbot interaction, and music recommendation.</a:t>
            </a:r>
            <a:endParaRPr lang="en-IN" sz="1600"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Problem Statement</a:t>
            </a:r>
            <a:endParaRPr/>
          </a:p>
        </p:txBody>
      </p:sp>
      <p:sp>
        <p:nvSpPr>
          <p:cNvPr id="143" name="Google Shape;143;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dirty="0"/>
              <a:t>Mini Project (ISP67)</a:t>
            </a:r>
            <a:endParaRPr dirty="0"/>
          </a:p>
        </p:txBody>
      </p:sp>
      <p:sp>
        <p:nvSpPr>
          <p:cNvPr id="144" name="Google Shape;144;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3" name="Text Placeholder 2">
            <a:extLst>
              <a:ext uri="{FF2B5EF4-FFF2-40B4-BE49-F238E27FC236}">
                <a16:creationId xmlns:a16="http://schemas.microsoft.com/office/drawing/2014/main" id="{FA03C992-AFBD-BE33-310A-4B8B9CA4D2E6}"/>
              </a:ext>
            </a:extLst>
          </p:cNvPr>
          <p:cNvSpPr>
            <a:spLocks noGrp="1"/>
          </p:cNvSpPr>
          <p:nvPr>
            <p:ph type="body" idx="1"/>
          </p:nvPr>
        </p:nvSpPr>
        <p:spPr>
          <a:xfrm>
            <a:off x="834521" y="1898285"/>
            <a:ext cx="10058400" cy="4023360"/>
          </a:xfrm>
        </p:spPr>
        <p:txBody>
          <a:bodyPr>
            <a:normAutofit/>
          </a:bodyPr>
          <a:lstStyle/>
          <a:p>
            <a:pPr algn="just">
              <a:lnSpc>
                <a:spcPct val="150000"/>
              </a:lnSpc>
            </a:pPr>
            <a:r>
              <a:rPr lang="en-US" sz="1800" dirty="0">
                <a:latin typeface="+mj-lt"/>
              </a:rPr>
              <a:t>Most existing real-time facial emotion recognition systems detect emotions using webcams but only display emotion labels for surveillance or monitoring purposes. Emotion-based music recommendation systems often use offline mood inputs and lack conversational, real-time interactivity. The primary motivation of this project is to build an interactive, lightweight assistant that detects user emotions in real-time via webcam, provides empathetic text responses, and suggests mood-appropriate songs. This addresses the gap where existing works do not integrate real-time emotion recognition with personalized, conversational music and text responses for user emotional support.</a:t>
            </a:r>
            <a:endParaRPr lang="en-IN" sz="1800"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Objectives</a:t>
            </a:r>
            <a:endParaRPr dirty="0"/>
          </a:p>
        </p:txBody>
      </p:sp>
      <p:sp>
        <p:nvSpPr>
          <p:cNvPr id="151" name="Google Shape;151;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dirty="0"/>
              <a:t>Mini Project (ISP67)</a:t>
            </a:r>
            <a:endParaRPr dirty="0"/>
          </a:p>
        </p:txBody>
      </p:sp>
      <p:sp>
        <p:nvSpPr>
          <p:cNvPr id="152" name="Google Shape;152;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3" name="Text Placeholder 2">
            <a:extLst>
              <a:ext uri="{FF2B5EF4-FFF2-40B4-BE49-F238E27FC236}">
                <a16:creationId xmlns:a16="http://schemas.microsoft.com/office/drawing/2014/main" id="{53A71504-52EC-CCA1-17DB-C72FA46FD146}"/>
              </a:ext>
            </a:extLst>
          </p:cNvPr>
          <p:cNvSpPr>
            <a:spLocks noGrp="1"/>
          </p:cNvSpPr>
          <p:nvPr>
            <p:ph type="body" idx="1"/>
          </p:nvPr>
        </p:nvSpPr>
        <p:spPr>
          <a:xfrm>
            <a:off x="1036320" y="1737360"/>
            <a:ext cx="10058400" cy="4023360"/>
          </a:xfrm>
        </p:spPr>
        <p:txBody>
          <a:bodyPr>
            <a:noAutofit/>
          </a:bodyPr>
          <a:lstStyle/>
          <a:p>
            <a:pPr algn="just">
              <a:buFont typeface="Arial" panose="020B0604020202020204" pitchFamily="34" charset="0"/>
              <a:buChar char="•"/>
            </a:pPr>
            <a:r>
              <a:rPr lang="en-US" sz="1600" dirty="0">
                <a:latin typeface="+mn-lt"/>
              </a:rPr>
              <a:t>Develop a real-time facial emotion detection module using webcam video and deep</a:t>
            </a:r>
          </a:p>
          <a:p>
            <a:pPr algn="just"/>
            <a:r>
              <a:rPr lang="en-US" sz="1600" dirty="0">
                <a:latin typeface="+mn-lt"/>
              </a:rPr>
              <a:t>learning techniques to classify emotions like happy, sad, angry, stressed, relaxed, and</a:t>
            </a:r>
          </a:p>
          <a:p>
            <a:pPr algn="just"/>
            <a:r>
              <a:rPr lang="en-US" sz="1600" dirty="0">
                <a:latin typeface="+mn-lt"/>
              </a:rPr>
              <a:t>neutral.</a:t>
            </a:r>
          </a:p>
          <a:p>
            <a:pPr algn="just">
              <a:buFont typeface="Arial" panose="020B0604020202020204" pitchFamily="34" charset="0"/>
              <a:buChar char="•"/>
            </a:pPr>
            <a:r>
              <a:rPr lang="en-US" sz="1600" dirty="0">
                <a:latin typeface="+mn-lt"/>
              </a:rPr>
              <a:t>Create an empathetic chat module that generates supportive and context-aware</a:t>
            </a:r>
          </a:p>
          <a:p>
            <a:pPr algn="just"/>
            <a:r>
              <a:rPr lang="en-US" sz="1600" dirty="0">
                <a:latin typeface="+mn-lt"/>
              </a:rPr>
              <a:t>responses based on detected emotions using either fine-tuned language models or rule</a:t>
            </a:r>
          </a:p>
          <a:p>
            <a:pPr algn="just"/>
            <a:r>
              <a:rPr lang="en-US" sz="1600" dirty="0">
                <a:latin typeface="+mn-lt"/>
              </a:rPr>
              <a:t>based templates.</a:t>
            </a:r>
          </a:p>
          <a:p>
            <a:pPr algn="just">
              <a:buFont typeface="Arial" panose="020B0604020202020204" pitchFamily="34" charset="0"/>
              <a:buChar char="•"/>
            </a:pPr>
            <a:r>
              <a:rPr lang="en-US" sz="1600" dirty="0">
                <a:latin typeface="+mn-lt"/>
              </a:rPr>
              <a:t>Implement a song recommendation system to suggest appropriate songs from curated</a:t>
            </a:r>
          </a:p>
          <a:p>
            <a:pPr algn="just"/>
            <a:r>
              <a:rPr lang="en-US" sz="1600" dirty="0">
                <a:latin typeface="+mn-lt"/>
              </a:rPr>
              <a:t>playlists mapped to detected emotions, with basic user feedback (like/dislike) to improve</a:t>
            </a:r>
          </a:p>
          <a:p>
            <a:pPr algn="just"/>
            <a:r>
              <a:rPr lang="en-US" sz="1600" dirty="0">
                <a:latin typeface="+mn-lt"/>
              </a:rPr>
              <a:t>suggestions.</a:t>
            </a:r>
          </a:p>
          <a:p>
            <a:pPr algn="just">
              <a:buFont typeface="Arial" panose="020B0604020202020204" pitchFamily="34" charset="0"/>
              <a:buChar char="•"/>
            </a:pPr>
            <a:r>
              <a:rPr lang="en-US" sz="1600" dirty="0">
                <a:latin typeface="+mn-lt"/>
              </a:rPr>
              <a:t>Develop a graphical user interface that combines webcam feed, emotion detection</a:t>
            </a:r>
          </a:p>
          <a:p>
            <a:pPr algn="just"/>
            <a:r>
              <a:rPr lang="en-US" sz="1600" dirty="0">
                <a:latin typeface="+mn-lt"/>
              </a:rPr>
              <a:t>results, chat-bot conversation, and song suggestions.</a:t>
            </a:r>
            <a:endParaRPr lang="en-IN" sz="1600" dirty="0">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7"/>
          <p:cNvSpPr txBox="1">
            <a:spLocks noGrp="1"/>
          </p:cNvSpPr>
          <p:nvPr>
            <p:ph type="title"/>
          </p:nvPr>
        </p:nvSpPr>
        <p:spPr>
          <a:xfrm>
            <a:off x="1097280" y="286603"/>
            <a:ext cx="10058400" cy="565653"/>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pPr>
            <a:r>
              <a:rPr lang="en-US"/>
              <a:t>Literature review</a:t>
            </a:r>
            <a:endParaRPr/>
          </a:p>
        </p:txBody>
      </p:sp>
      <p:graphicFrame>
        <p:nvGraphicFramePr>
          <p:cNvPr id="158" name="Google Shape;158;p7"/>
          <p:cNvGraphicFramePr/>
          <p:nvPr>
            <p:extLst>
              <p:ext uri="{D42A27DB-BD31-4B8C-83A1-F6EECF244321}">
                <p14:modId xmlns:p14="http://schemas.microsoft.com/office/powerpoint/2010/main" val="459260071"/>
              </p:ext>
            </p:extLst>
          </p:nvPr>
        </p:nvGraphicFramePr>
        <p:xfrm>
          <a:off x="1097280" y="818003"/>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28150">
                  <a:extLst>
                    <a:ext uri="{9D8B030D-6E8A-4147-A177-3AD203B41FA5}">
                      <a16:colId xmlns:a16="http://schemas.microsoft.com/office/drawing/2014/main" val="20001"/>
                    </a:ext>
                  </a:extLst>
                </a:gridCol>
                <a:gridCol w="3020850">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1.</a:t>
                      </a:r>
                      <a:endParaRPr sz="120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Facial Emotion Detection Using Deep Learning: A Survey (Ansari et al., 2023)</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Review of CNN, </a:t>
                      </a:r>
                      <a:r>
                        <a:rPr lang="en-US" sz="1200" b="0" dirty="0" err="1">
                          <a:solidFill>
                            <a:schemeClr val="dk1"/>
                          </a:solidFill>
                          <a:latin typeface="Calibri"/>
                          <a:ea typeface="Calibri"/>
                          <a:cs typeface="Calibri"/>
                          <a:sym typeface="Calibri"/>
                        </a:rPr>
                        <a:t>ResNet</a:t>
                      </a:r>
                      <a:r>
                        <a:rPr lang="en-US" sz="1200" b="0" dirty="0">
                          <a:solidFill>
                            <a:schemeClr val="dk1"/>
                          </a:solidFill>
                          <a:latin typeface="Calibri"/>
                          <a:ea typeface="Calibri"/>
                          <a:cs typeface="Calibri"/>
                          <a:sym typeface="Calibri"/>
                        </a:rPr>
                        <a:t> and deep learning models for facial emotion recognition</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a:t>FER2013, CK+, JAFFE datasets</a:t>
                      </a:r>
                      <a:endParaRPr sz="1200" b="0" dirty="0"/>
                    </a:p>
                  </a:txBody>
                  <a:tcPr marL="42125" marR="42125" marT="21075" marB="21075"/>
                </a:tc>
                <a:tc>
                  <a:txBody>
                    <a:bodyPr/>
                    <a:lstStyle/>
                    <a:p>
                      <a:pPr marL="0" lvl="0" indent="0" algn="l" rtl="0">
                        <a:spcBef>
                          <a:spcPts val="0"/>
                        </a:spcBef>
                        <a:spcAft>
                          <a:spcPts val="0"/>
                        </a:spcAft>
                        <a:buNone/>
                      </a:pPr>
                      <a:r>
                        <a:rPr lang="en-US" dirty="0"/>
                        <a:t>JAFFE </a:t>
                      </a:r>
                      <a:r>
                        <a:rPr lang="en-US" dirty="0" err="1"/>
                        <a:t>datasetsDeep</a:t>
                      </a:r>
                      <a:r>
                        <a:rPr lang="en-US" dirty="0"/>
                        <a:t> learning models significantly improve emotion recognition accuracy</a:t>
                      </a:r>
                      <a:endParaRPr dirty="0"/>
                    </a:p>
                  </a:txBody>
                  <a:tcPr marL="42125" marR="42125" marT="21075" marB="2107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Requires large datasets and high computational resources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2. </a:t>
                      </a:r>
                      <a:endParaRPr sz="120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dirty="0">
                          <a:solidFill>
                            <a:schemeClr val="dk1"/>
                          </a:solidFill>
                          <a:latin typeface="Calibri"/>
                          <a:ea typeface="Calibri"/>
                          <a:cs typeface="Calibri"/>
                          <a:sym typeface="Calibri"/>
                        </a:rPr>
                        <a:t>Advances in Facial Expression Recognition: A Survey (</a:t>
                      </a:r>
                      <a:r>
                        <a:rPr lang="en-IN" sz="1200" dirty="0" err="1">
                          <a:solidFill>
                            <a:schemeClr val="dk1"/>
                          </a:solidFill>
                          <a:latin typeface="Calibri"/>
                          <a:ea typeface="Calibri"/>
                          <a:cs typeface="Calibri"/>
                          <a:sym typeface="Calibri"/>
                        </a:rPr>
                        <a:t>Kopalidis</a:t>
                      </a:r>
                      <a:r>
                        <a:rPr lang="en-IN" sz="1200" dirty="0">
                          <a:solidFill>
                            <a:schemeClr val="dk1"/>
                          </a:solidFill>
                          <a:latin typeface="Calibri"/>
                          <a:ea typeface="Calibri"/>
                          <a:cs typeface="Calibri"/>
                          <a:sym typeface="Calibri"/>
                        </a:rPr>
                        <a:t> et al., 2024)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Survey of modern FER techniques including CNN and transformer models</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b="0" dirty="0">
                          <a:solidFill>
                            <a:schemeClr val="dk1"/>
                          </a:solidFill>
                          <a:latin typeface="Calibri"/>
                          <a:ea typeface="Calibri"/>
                          <a:cs typeface="Calibri"/>
                          <a:sym typeface="Calibri"/>
                        </a:rPr>
                        <a:t>Public facial expression datasets</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Shows improvement in emotion detection using deep neural networks</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Real-time performance and dataset bias remain challenges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4A01E28-8E3D-6AB4-558D-96BE7DC81E4B}"/>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2A1ACCC5-A821-F24B-1A09-C09AE75C4F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graphicFrame>
        <p:nvGraphicFramePr>
          <p:cNvPr id="7" name="Google Shape;158;p7">
            <a:extLst>
              <a:ext uri="{FF2B5EF4-FFF2-40B4-BE49-F238E27FC236}">
                <a16:creationId xmlns:a16="http://schemas.microsoft.com/office/drawing/2014/main" id="{DA6C0BF3-D158-90B0-209A-FF88AF29990C}"/>
              </a:ext>
            </a:extLst>
          </p:cNvPr>
          <p:cNvGraphicFramePr/>
          <p:nvPr>
            <p:extLst>
              <p:ext uri="{D42A27DB-BD31-4B8C-83A1-F6EECF244321}">
                <p14:modId xmlns:p14="http://schemas.microsoft.com/office/powerpoint/2010/main" val="4030004982"/>
              </p:ext>
            </p:extLst>
          </p:nvPr>
        </p:nvGraphicFramePr>
        <p:xfrm>
          <a:off x="671133" y="599794"/>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28150">
                  <a:extLst>
                    <a:ext uri="{9D8B030D-6E8A-4147-A177-3AD203B41FA5}">
                      <a16:colId xmlns:a16="http://schemas.microsoft.com/office/drawing/2014/main" val="20001"/>
                    </a:ext>
                  </a:extLst>
                </a:gridCol>
                <a:gridCol w="3020850">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3.</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Real-Time Facial Emotion Recognition Using Deep Learning Models (IJCA, 2024)</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Webcam input, OpenCV face detection, CNN classifier for emotion prediction</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a:t>FER2013 dataset</a:t>
                      </a:r>
                      <a:endParaRPr sz="1200" b="0" dirty="0"/>
                    </a:p>
                  </a:txBody>
                  <a:tcPr marL="42125" marR="42125" marT="21075" marB="21075"/>
                </a:tc>
                <a:tc>
                  <a:txBody>
                    <a:bodyPr/>
                    <a:lstStyle/>
                    <a:p>
                      <a:pPr marL="0" lvl="0" indent="0" algn="l" rtl="0">
                        <a:spcBef>
                          <a:spcPts val="0"/>
                        </a:spcBef>
                        <a:spcAft>
                          <a:spcPts val="0"/>
                        </a:spcAft>
                        <a:buNone/>
                      </a:pPr>
                      <a:r>
                        <a:rPr lang="en-US" dirty="0"/>
                        <a:t>Achieves real-time emotion detection suitable for interactive systems</a:t>
                      </a:r>
                      <a:endParaRPr dirty="0"/>
                    </a:p>
                  </a:txBody>
                  <a:tcPr marL="42125" marR="42125" marT="21075" marB="2107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Performance decreases under poor lighting conditions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Image-Based Facial Emotion Recognition Using Deep Learning (Agung et al., 2024)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Deep CNN model for extracting facial features and classifying emotions</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FER2013 and facial image datasets</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CNN models effectively detect multiple emotional expressions</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Requires powerful hardware for training and inference</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9394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31B2019-6A86-E63C-13D8-56C47AD5F1E9}"/>
              </a:ext>
            </a:extLst>
          </p:cNvPr>
          <p:cNvSpPr>
            <a:spLocks noGrp="1"/>
          </p:cNvSpPr>
          <p:nvPr>
            <p:ph type="ftr" idx="11"/>
          </p:nvPr>
        </p:nvSpPr>
        <p:spPr/>
        <p:txBody>
          <a:bodyPr/>
          <a:lstStyle/>
          <a:p>
            <a:r>
              <a:rPr lang="en-IN"/>
              <a:t>Mini Project (ISP67)</a:t>
            </a:r>
          </a:p>
        </p:txBody>
      </p:sp>
      <p:sp>
        <p:nvSpPr>
          <p:cNvPr id="3" name="Slide Number Placeholder 2">
            <a:extLst>
              <a:ext uri="{FF2B5EF4-FFF2-40B4-BE49-F238E27FC236}">
                <a16:creationId xmlns:a16="http://schemas.microsoft.com/office/drawing/2014/main" id="{04A9FC92-2884-AC07-94AB-694627FE1D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4" name="Google Shape;158;p7">
            <a:extLst>
              <a:ext uri="{FF2B5EF4-FFF2-40B4-BE49-F238E27FC236}">
                <a16:creationId xmlns:a16="http://schemas.microsoft.com/office/drawing/2014/main" id="{B5F72EA1-DB84-3ABE-5489-6C9D8364C2A3}"/>
              </a:ext>
            </a:extLst>
          </p:cNvPr>
          <p:cNvGraphicFramePr/>
          <p:nvPr>
            <p:extLst>
              <p:ext uri="{D42A27DB-BD31-4B8C-83A1-F6EECF244321}">
                <p14:modId xmlns:p14="http://schemas.microsoft.com/office/powerpoint/2010/main" val="2829268688"/>
              </p:ext>
            </p:extLst>
          </p:nvPr>
        </p:nvGraphicFramePr>
        <p:xfrm>
          <a:off x="825325" y="547840"/>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28150">
                  <a:extLst>
                    <a:ext uri="{9D8B030D-6E8A-4147-A177-3AD203B41FA5}">
                      <a16:colId xmlns:a16="http://schemas.microsoft.com/office/drawing/2014/main" val="20001"/>
                    </a:ext>
                  </a:extLst>
                </a:gridCol>
                <a:gridCol w="3020850">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5.</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Empathetic Response Generation through Graph-Based Reasoning (Wang et al., 2021)</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NLP model with graph-based reasoning to generate empathetic chatbot responses</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err="1"/>
                        <a:t>EmpatheticDialogues</a:t>
                      </a:r>
                      <a:r>
                        <a:rPr lang="en-IN" sz="1200" b="0" dirty="0"/>
                        <a:t> dataset</a:t>
                      </a:r>
                      <a:endParaRPr sz="1200" b="0" dirty="0"/>
                    </a:p>
                  </a:txBody>
                  <a:tcPr marL="42125" marR="42125" marT="21075" marB="21075"/>
                </a:tc>
                <a:tc>
                  <a:txBody>
                    <a:bodyPr/>
                    <a:lstStyle/>
                    <a:p>
                      <a:pPr marL="0" lvl="0" indent="0" algn="l" rtl="0">
                        <a:spcBef>
                          <a:spcPts val="0"/>
                        </a:spcBef>
                        <a:spcAft>
                          <a:spcPts val="0"/>
                        </a:spcAft>
                        <a:buNone/>
                      </a:pPr>
                      <a:r>
                        <a:rPr lang="en-IN" dirty="0"/>
                        <a:t>Produces context-aware emotional responses in conversations</a:t>
                      </a:r>
                      <a:endParaRPr dirty="0"/>
                    </a:p>
                  </a:txBody>
                  <a:tcPr marL="42125" marR="42125" marT="21075" marB="2107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Complex model architecture increases computational cost</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6.</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Deep Learning-Based Emotion-Aware Chatbot with Response Generation (IJIRT, 2023)</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NLP techniques and deep learning models to detect emotion and generate responses</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b="0" dirty="0">
                          <a:solidFill>
                            <a:schemeClr val="dk1"/>
                          </a:solidFill>
                          <a:latin typeface="Calibri"/>
                          <a:ea typeface="Calibri"/>
                          <a:cs typeface="Calibri"/>
                          <a:sym typeface="Calibri"/>
                        </a:rPr>
                        <a:t>Conversational datasets</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Chatbots can provide emotional support using context-aware responses</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Limited understanding of complex human emotions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66961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1EC646-0FF0-9842-3B07-A17033973B24}"/>
              </a:ext>
            </a:extLst>
          </p:cNvPr>
          <p:cNvSpPr>
            <a:spLocks noGrp="1"/>
          </p:cNvSpPr>
          <p:nvPr>
            <p:ph type="ftr" idx="11"/>
          </p:nvPr>
        </p:nvSpPr>
        <p:spPr/>
        <p:txBody>
          <a:bodyPr/>
          <a:lstStyle/>
          <a:p>
            <a:r>
              <a:rPr lang="en-IN"/>
              <a:t>Mini Project (ISP67)</a:t>
            </a:r>
          </a:p>
        </p:txBody>
      </p:sp>
      <p:sp>
        <p:nvSpPr>
          <p:cNvPr id="3" name="Slide Number Placeholder 2">
            <a:extLst>
              <a:ext uri="{FF2B5EF4-FFF2-40B4-BE49-F238E27FC236}">
                <a16:creationId xmlns:a16="http://schemas.microsoft.com/office/drawing/2014/main" id="{417A8C79-DFE5-5DDB-1E0C-A9129A89F1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aphicFrame>
        <p:nvGraphicFramePr>
          <p:cNvPr id="4" name="Google Shape;158;p7">
            <a:extLst>
              <a:ext uri="{FF2B5EF4-FFF2-40B4-BE49-F238E27FC236}">
                <a16:creationId xmlns:a16="http://schemas.microsoft.com/office/drawing/2014/main" id="{7AA00F17-5D60-B076-F914-63529E8E93DA}"/>
              </a:ext>
            </a:extLst>
          </p:cNvPr>
          <p:cNvGraphicFramePr/>
          <p:nvPr>
            <p:extLst>
              <p:ext uri="{D42A27DB-BD31-4B8C-83A1-F6EECF244321}">
                <p14:modId xmlns:p14="http://schemas.microsoft.com/office/powerpoint/2010/main" val="2711934329"/>
              </p:ext>
            </p:extLst>
          </p:nvPr>
        </p:nvGraphicFramePr>
        <p:xfrm>
          <a:off x="825325" y="547840"/>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32291">
                  <a:extLst>
                    <a:ext uri="{9D8B030D-6E8A-4147-A177-3AD203B41FA5}">
                      <a16:colId xmlns:a16="http://schemas.microsoft.com/office/drawing/2014/main" val="20001"/>
                    </a:ext>
                  </a:extLst>
                </a:gridCol>
                <a:gridCol w="3016709">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7.</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Chatbot Emotion Recognition and Music Recommendation System (2025)</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Combines emotion detection with chatbot interaction and music recommendation</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a:t>Custom conversational datasets</a:t>
                      </a:r>
                      <a:endParaRPr sz="1200" b="0" dirty="0"/>
                    </a:p>
                  </a:txBody>
                  <a:tcPr marL="42125" marR="42125" marT="21075" marB="21075"/>
                </a:tc>
                <a:tc>
                  <a:txBody>
                    <a:bodyPr/>
                    <a:lstStyle/>
                    <a:p>
                      <a:pPr marL="0" lvl="0" indent="0" algn="l" rtl="0">
                        <a:spcBef>
                          <a:spcPts val="0"/>
                        </a:spcBef>
                        <a:spcAft>
                          <a:spcPts val="0"/>
                        </a:spcAft>
                        <a:buNone/>
                      </a:pPr>
                      <a:r>
                        <a:rPr lang="en-US" dirty="0"/>
                        <a:t>Demonstrates integration of chatbot communication with music suggestions</a:t>
                      </a:r>
                      <a:endParaRPr dirty="0"/>
                    </a:p>
                  </a:txBody>
                  <a:tcPr marL="42125" marR="42125" marT="21075" marB="21075"/>
                </a:tc>
                <a:tc>
                  <a:txBody>
                    <a:bodyPr/>
                    <a:lstStyle/>
                    <a:p>
                      <a:pPr marL="0" marR="0" lvl="0" indent="0" algn="l" rtl="0">
                        <a:spcBef>
                          <a:spcPts val="0"/>
                        </a:spcBef>
                        <a:spcAft>
                          <a:spcPts val="0"/>
                        </a:spcAft>
                        <a:buNone/>
                      </a:pPr>
                      <a:r>
                        <a:rPr lang="en-IN" sz="1200" dirty="0">
                          <a:solidFill>
                            <a:schemeClr val="dk1"/>
                          </a:solidFill>
                          <a:latin typeface="Calibri"/>
                          <a:ea typeface="Calibri"/>
                          <a:cs typeface="Calibri"/>
                          <a:sym typeface="Calibri"/>
                        </a:rPr>
                        <a:t>Accuracy depends on emotion recognition </a:t>
                      </a:r>
                      <a:r>
                        <a:rPr lang="en-IN" sz="1200" dirty="0" err="1">
                          <a:solidFill>
                            <a:schemeClr val="dk1"/>
                          </a:solidFill>
                          <a:latin typeface="Calibri"/>
                          <a:ea typeface="Calibri"/>
                          <a:cs typeface="Calibri"/>
                          <a:sym typeface="Calibri"/>
                        </a:rPr>
                        <a:t>performanc</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8.</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Chatbot Music Recommendation System (ResearchGate, 2024)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Conversational chatbot integrated with recommendation algorithms</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b="0" dirty="0">
                          <a:solidFill>
                            <a:schemeClr val="dk1"/>
                          </a:solidFill>
                          <a:latin typeface="Calibri"/>
                          <a:ea typeface="Calibri"/>
                          <a:cs typeface="Calibri"/>
                          <a:sym typeface="Calibri"/>
                        </a:rPr>
                        <a:t>User interaction data</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IN" dirty="0"/>
                        <a:t>Improves user engagement through interactive recommendations</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Limited personalization without long-term user data</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50292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F73291-3492-B42D-F944-C640745AB6B9}"/>
              </a:ext>
            </a:extLst>
          </p:cNvPr>
          <p:cNvSpPr>
            <a:spLocks noGrp="1"/>
          </p:cNvSpPr>
          <p:nvPr>
            <p:ph type="ftr" idx="11"/>
          </p:nvPr>
        </p:nvSpPr>
        <p:spPr/>
        <p:txBody>
          <a:bodyPr/>
          <a:lstStyle/>
          <a:p>
            <a:r>
              <a:rPr lang="en-IN"/>
              <a:t>Mini Project (ISP67)</a:t>
            </a:r>
          </a:p>
        </p:txBody>
      </p:sp>
      <p:sp>
        <p:nvSpPr>
          <p:cNvPr id="3" name="Slide Number Placeholder 2">
            <a:extLst>
              <a:ext uri="{FF2B5EF4-FFF2-40B4-BE49-F238E27FC236}">
                <a16:creationId xmlns:a16="http://schemas.microsoft.com/office/drawing/2014/main" id="{096183F5-6E4A-FE8A-8607-F91AE606E5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4" name="Google Shape;158;p7">
            <a:extLst>
              <a:ext uri="{FF2B5EF4-FFF2-40B4-BE49-F238E27FC236}">
                <a16:creationId xmlns:a16="http://schemas.microsoft.com/office/drawing/2014/main" id="{7CA1F4E6-6075-531B-096A-AEAF5DBBC212}"/>
              </a:ext>
            </a:extLst>
          </p:cNvPr>
          <p:cNvGraphicFramePr/>
          <p:nvPr>
            <p:extLst>
              <p:ext uri="{D42A27DB-BD31-4B8C-83A1-F6EECF244321}">
                <p14:modId xmlns:p14="http://schemas.microsoft.com/office/powerpoint/2010/main" val="3612062334"/>
              </p:ext>
            </p:extLst>
          </p:nvPr>
        </p:nvGraphicFramePr>
        <p:xfrm>
          <a:off x="825325" y="547840"/>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32291">
                  <a:extLst>
                    <a:ext uri="{9D8B030D-6E8A-4147-A177-3AD203B41FA5}">
                      <a16:colId xmlns:a16="http://schemas.microsoft.com/office/drawing/2014/main" val="20001"/>
                    </a:ext>
                  </a:extLst>
                </a:gridCol>
                <a:gridCol w="3016709">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9.</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Emotion-Based Music Recommendation System Using Machine Learning and AI (Pardhi et al., 2024)</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Machine learning classifiers map detected emotion to curated playlists</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t>Emotion-labeled datasets and predefined song lists</a:t>
                      </a:r>
                      <a:endParaRPr sz="1200" b="0" dirty="0"/>
                    </a:p>
                  </a:txBody>
                  <a:tcPr marL="42125" marR="42125" marT="21075" marB="21075"/>
                </a:tc>
                <a:tc>
                  <a:txBody>
                    <a:bodyPr/>
                    <a:lstStyle/>
                    <a:p>
                      <a:pPr marL="0" lvl="0" indent="0" algn="l" rtl="0">
                        <a:spcBef>
                          <a:spcPts val="0"/>
                        </a:spcBef>
                        <a:spcAft>
                          <a:spcPts val="0"/>
                        </a:spcAft>
                        <a:buNone/>
                      </a:pPr>
                      <a:r>
                        <a:rPr lang="en-IN" dirty="0"/>
                        <a:t>Emotion-based recommendation improves listening experience</a:t>
                      </a:r>
                      <a:endParaRPr dirty="0"/>
                    </a:p>
                  </a:txBody>
                  <a:tcPr marL="42125" marR="42125" marT="21075" marB="21075"/>
                </a:tc>
                <a:tc>
                  <a:txBody>
                    <a:bodyPr/>
                    <a:lstStyle/>
                    <a:p>
                      <a:pPr marL="0" marR="0" lvl="0" indent="0" algn="l" rtl="0">
                        <a:spcBef>
                          <a:spcPts val="0"/>
                        </a:spcBef>
                        <a:spcAft>
                          <a:spcPts val="0"/>
                        </a:spcAft>
                        <a:buNone/>
                      </a:pPr>
                      <a:r>
                        <a:rPr lang="en-IN" sz="1200" dirty="0">
                          <a:solidFill>
                            <a:schemeClr val="dk1"/>
                          </a:solidFill>
                          <a:latin typeface="Calibri"/>
                          <a:ea typeface="Calibri"/>
                          <a:cs typeface="Calibri"/>
                          <a:sym typeface="Calibri"/>
                        </a:rPr>
                        <a:t>Recommendations may lack personalization</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10.</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Music Recommendation Based on Face Emotion Recognition (ResearchGate)</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Webcam input, OpenCV face detection, CNN-based emotion classifier</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b="0" dirty="0">
                          <a:solidFill>
                            <a:schemeClr val="dk1"/>
                          </a:solidFill>
                          <a:latin typeface="Calibri"/>
                          <a:ea typeface="Calibri"/>
                          <a:cs typeface="Calibri"/>
                          <a:sym typeface="Calibri"/>
                        </a:rPr>
                        <a:t>FER2013 facial emotion dataset</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Real-time facial emotion recognition enables automatic music suggestion</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Accuracy affected by lighting conditions and facial variations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8887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49FEDA-0782-44D4-9EBF-86C7F058B969}"/>
              </a:ext>
            </a:extLst>
          </p:cNvPr>
          <p:cNvSpPr>
            <a:spLocks noGrp="1"/>
          </p:cNvSpPr>
          <p:nvPr>
            <p:ph type="ftr" idx="11"/>
          </p:nvPr>
        </p:nvSpPr>
        <p:spPr/>
        <p:txBody>
          <a:bodyPr/>
          <a:lstStyle/>
          <a:p>
            <a:r>
              <a:rPr lang="en-IN"/>
              <a:t>Mini Project (ISP67)</a:t>
            </a:r>
          </a:p>
        </p:txBody>
      </p:sp>
      <p:sp>
        <p:nvSpPr>
          <p:cNvPr id="3" name="Slide Number Placeholder 2">
            <a:extLst>
              <a:ext uri="{FF2B5EF4-FFF2-40B4-BE49-F238E27FC236}">
                <a16:creationId xmlns:a16="http://schemas.microsoft.com/office/drawing/2014/main" id="{3BE1ABCC-64FE-0258-0E9C-44A7DA4171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graphicFrame>
        <p:nvGraphicFramePr>
          <p:cNvPr id="4" name="Google Shape;158;p7">
            <a:extLst>
              <a:ext uri="{FF2B5EF4-FFF2-40B4-BE49-F238E27FC236}">
                <a16:creationId xmlns:a16="http://schemas.microsoft.com/office/drawing/2014/main" id="{FB0D7838-051E-0022-F12F-664C96D0C879}"/>
              </a:ext>
            </a:extLst>
          </p:cNvPr>
          <p:cNvGraphicFramePr/>
          <p:nvPr>
            <p:extLst>
              <p:ext uri="{D42A27DB-BD31-4B8C-83A1-F6EECF244321}">
                <p14:modId xmlns:p14="http://schemas.microsoft.com/office/powerpoint/2010/main" val="3445179861"/>
              </p:ext>
            </p:extLst>
          </p:nvPr>
        </p:nvGraphicFramePr>
        <p:xfrm>
          <a:off x="825325" y="547840"/>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32291">
                  <a:extLst>
                    <a:ext uri="{9D8B030D-6E8A-4147-A177-3AD203B41FA5}">
                      <a16:colId xmlns:a16="http://schemas.microsoft.com/office/drawing/2014/main" val="20001"/>
                    </a:ext>
                  </a:extLst>
                </a:gridCol>
                <a:gridCol w="3016709">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11.</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Emotion-Driven Music Recommendation System (Zhao et al., 2025)</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Uses emotion tags and music feature analysis (tempo, rhythm, energy)</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a:t>Music emotion datasets</a:t>
                      </a:r>
                      <a:endParaRPr sz="1200" b="0" dirty="0"/>
                    </a:p>
                  </a:txBody>
                  <a:tcPr marL="42125" marR="42125" marT="21075" marB="21075"/>
                </a:tc>
                <a:tc>
                  <a:txBody>
                    <a:bodyPr/>
                    <a:lstStyle/>
                    <a:p>
                      <a:pPr marL="0" lvl="0" indent="0" algn="l" rtl="0">
                        <a:spcBef>
                          <a:spcPts val="0"/>
                        </a:spcBef>
                        <a:spcAft>
                          <a:spcPts val="0"/>
                        </a:spcAft>
                        <a:buNone/>
                      </a:pPr>
                      <a:r>
                        <a:rPr lang="en-US" dirty="0"/>
                        <a:t>Aligns musical features with emotional states</a:t>
                      </a:r>
                      <a:endParaRPr dirty="0"/>
                    </a:p>
                  </a:txBody>
                  <a:tcPr marL="42125" marR="42125" marT="21075" marB="2107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Does not consider real-time emotion detection</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12.</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Words to Waves: Emotion-Adaptive Music Recommendation System (</a:t>
                      </a:r>
                      <a:r>
                        <a:rPr lang="en-US" sz="1200" dirty="0" err="1">
                          <a:solidFill>
                            <a:schemeClr val="dk1"/>
                          </a:solidFill>
                          <a:latin typeface="Calibri"/>
                          <a:ea typeface="Calibri"/>
                          <a:cs typeface="Calibri"/>
                          <a:sym typeface="Calibri"/>
                        </a:rPr>
                        <a:t>Arxiv</a:t>
                      </a:r>
                      <a:r>
                        <a:rPr lang="en-US" sz="1200" dirty="0">
                          <a:solidFill>
                            <a:schemeClr val="dk1"/>
                          </a:solidFill>
                          <a:latin typeface="Calibri"/>
                          <a:ea typeface="Calibri"/>
                          <a:cs typeface="Calibri"/>
                          <a:sym typeface="Calibri"/>
                        </a:rPr>
                        <a:t>, 2025)</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NLP and transformer models to detect emotion from text input</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Text sentiment datasets and music metadata</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Emotion-aware recommendation adapts to user interaction</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High computational cost for real-time systems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42801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990399-F63B-4DF5-FE97-9A15B4E84A25}"/>
              </a:ext>
            </a:extLst>
          </p:cNvPr>
          <p:cNvSpPr>
            <a:spLocks noGrp="1"/>
          </p:cNvSpPr>
          <p:nvPr>
            <p:ph type="ftr" idx="11"/>
          </p:nvPr>
        </p:nvSpPr>
        <p:spPr/>
        <p:txBody>
          <a:bodyPr/>
          <a:lstStyle/>
          <a:p>
            <a:r>
              <a:rPr lang="en-IN"/>
              <a:t>Mini Project (ISP67)</a:t>
            </a:r>
          </a:p>
        </p:txBody>
      </p:sp>
      <p:sp>
        <p:nvSpPr>
          <p:cNvPr id="3" name="Slide Number Placeholder 2">
            <a:extLst>
              <a:ext uri="{FF2B5EF4-FFF2-40B4-BE49-F238E27FC236}">
                <a16:creationId xmlns:a16="http://schemas.microsoft.com/office/drawing/2014/main" id="{49D8FCA5-DB8C-D644-D7DC-68D6E114E8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aphicFrame>
        <p:nvGraphicFramePr>
          <p:cNvPr id="4" name="Google Shape;158;p7">
            <a:extLst>
              <a:ext uri="{FF2B5EF4-FFF2-40B4-BE49-F238E27FC236}">
                <a16:creationId xmlns:a16="http://schemas.microsoft.com/office/drawing/2014/main" id="{4B9D1920-98A0-57D1-DE57-6F7FB3534B36}"/>
              </a:ext>
            </a:extLst>
          </p:cNvPr>
          <p:cNvGraphicFramePr/>
          <p:nvPr>
            <p:extLst>
              <p:ext uri="{D42A27DB-BD31-4B8C-83A1-F6EECF244321}">
                <p14:modId xmlns:p14="http://schemas.microsoft.com/office/powerpoint/2010/main" val="892159199"/>
              </p:ext>
            </p:extLst>
          </p:nvPr>
        </p:nvGraphicFramePr>
        <p:xfrm>
          <a:off x="825325" y="547840"/>
          <a:ext cx="10541350" cy="5287245"/>
        </p:xfrm>
        <a:graphic>
          <a:graphicData uri="http://schemas.openxmlformats.org/drawingml/2006/table">
            <a:tbl>
              <a:tblPr firstRow="1" bandRow="1">
                <a:noFill/>
                <a:tableStyleId>{C62EE5E8-430B-4DDC-A6C1-23BFF62ECF60}</a:tableStyleId>
              </a:tblPr>
              <a:tblGrid>
                <a:gridCol w="710475">
                  <a:extLst>
                    <a:ext uri="{9D8B030D-6E8A-4147-A177-3AD203B41FA5}">
                      <a16:colId xmlns:a16="http://schemas.microsoft.com/office/drawing/2014/main" val="20000"/>
                    </a:ext>
                  </a:extLst>
                </a:gridCol>
                <a:gridCol w="2932291">
                  <a:extLst>
                    <a:ext uri="{9D8B030D-6E8A-4147-A177-3AD203B41FA5}">
                      <a16:colId xmlns:a16="http://schemas.microsoft.com/office/drawing/2014/main" val="20001"/>
                    </a:ext>
                  </a:extLst>
                </a:gridCol>
                <a:gridCol w="3016709">
                  <a:extLst>
                    <a:ext uri="{9D8B030D-6E8A-4147-A177-3AD203B41FA5}">
                      <a16:colId xmlns:a16="http://schemas.microsoft.com/office/drawing/2014/main" val="20002"/>
                    </a:ext>
                  </a:extLst>
                </a:gridCol>
                <a:gridCol w="1154425">
                  <a:extLst>
                    <a:ext uri="{9D8B030D-6E8A-4147-A177-3AD203B41FA5}">
                      <a16:colId xmlns:a16="http://schemas.microsoft.com/office/drawing/2014/main" val="20003"/>
                    </a:ext>
                  </a:extLst>
                </a:gridCol>
                <a:gridCol w="1406993">
                  <a:extLst>
                    <a:ext uri="{9D8B030D-6E8A-4147-A177-3AD203B41FA5}">
                      <a16:colId xmlns:a16="http://schemas.microsoft.com/office/drawing/2014/main" val="20004"/>
                    </a:ext>
                  </a:extLst>
                </a:gridCol>
                <a:gridCol w="1320457">
                  <a:extLst>
                    <a:ext uri="{9D8B030D-6E8A-4147-A177-3AD203B41FA5}">
                      <a16:colId xmlns:a16="http://schemas.microsoft.com/office/drawing/2014/main" val="20005"/>
                    </a:ext>
                  </a:extLst>
                </a:gridCol>
              </a:tblGrid>
              <a:tr h="350600">
                <a:tc>
                  <a:txBody>
                    <a:bodyPr/>
                    <a:lstStyle/>
                    <a:p>
                      <a:pPr marL="0" marR="0" lvl="0" indent="0" algn="l" rtl="0">
                        <a:spcBef>
                          <a:spcPts val="0"/>
                        </a:spcBef>
                        <a:spcAft>
                          <a:spcPts val="0"/>
                        </a:spcAft>
                        <a:buNone/>
                      </a:pPr>
                      <a:r>
                        <a:rPr lang="en-US" sz="1800" u="none" strike="noStrike" cap="none"/>
                        <a:t>Sl No</a:t>
                      </a:r>
                      <a:endParaRPr sz="1800"/>
                    </a:p>
                  </a:txBody>
                  <a:tcPr marL="91450" marR="91450" marT="45725" marB="45725"/>
                </a:tc>
                <a:tc>
                  <a:txBody>
                    <a:bodyPr/>
                    <a:lstStyle/>
                    <a:p>
                      <a:pPr marL="0" marR="0" lvl="0" indent="0" algn="l" rtl="0">
                        <a:spcBef>
                          <a:spcPts val="0"/>
                        </a:spcBef>
                        <a:spcAft>
                          <a:spcPts val="0"/>
                        </a:spcAft>
                        <a:buNone/>
                      </a:pPr>
                      <a:r>
                        <a:rPr lang="en-US" sz="1800" dirty="0"/>
                        <a:t>Title of Paper &amp; Citation Link</a:t>
                      </a:r>
                      <a:endParaRPr sz="1800" dirty="0"/>
                    </a:p>
                  </a:txBody>
                  <a:tcPr marL="91450" marR="91450" marT="45725" marB="45725"/>
                </a:tc>
                <a:tc>
                  <a:txBody>
                    <a:bodyPr/>
                    <a:lstStyle/>
                    <a:p>
                      <a:pPr marL="0" marR="0" lvl="0" indent="0" algn="l" rtl="0">
                        <a:spcBef>
                          <a:spcPts val="0"/>
                        </a:spcBef>
                        <a:spcAft>
                          <a:spcPts val="0"/>
                        </a:spcAft>
                        <a:buNone/>
                      </a:pPr>
                      <a:r>
                        <a:rPr lang="en-US" sz="1800"/>
                        <a:t>Methodology/ tools used</a:t>
                      </a:r>
                      <a:endParaRPr sz="1800"/>
                    </a:p>
                  </a:txBody>
                  <a:tcPr marL="91450" marR="91450" marT="45725" marB="45725"/>
                </a:tc>
                <a:tc>
                  <a:txBody>
                    <a:bodyPr/>
                    <a:lstStyle/>
                    <a:p>
                      <a:pPr marL="0" marR="0" lvl="0" indent="0" algn="l" rtl="0">
                        <a:spcBef>
                          <a:spcPts val="0"/>
                        </a:spcBef>
                        <a:spcAft>
                          <a:spcPts val="0"/>
                        </a:spcAft>
                        <a:buNone/>
                      </a:pPr>
                      <a:r>
                        <a:rPr lang="en-US" sz="1800"/>
                        <a:t>Datasets</a:t>
                      </a:r>
                      <a:endParaRPr sz="1800"/>
                    </a:p>
                  </a:txBody>
                  <a:tcPr marL="91450" marR="91450" marT="45725" marB="45725"/>
                </a:tc>
                <a:tc>
                  <a:txBody>
                    <a:bodyPr/>
                    <a:lstStyle/>
                    <a:p>
                      <a:pPr marL="0" marR="0" lvl="0" indent="0" algn="l" rtl="0">
                        <a:spcBef>
                          <a:spcPts val="0"/>
                        </a:spcBef>
                        <a:spcAft>
                          <a:spcPts val="0"/>
                        </a:spcAft>
                        <a:buNone/>
                      </a:pPr>
                      <a:r>
                        <a:rPr lang="en-US" sz="1800"/>
                        <a:t>Observation</a:t>
                      </a:r>
                      <a:endParaRPr sz="1800"/>
                    </a:p>
                  </a:txBody>
                  <a:tcPr marL="91450" marR="91450" marT="45725" marB="45725"/>
                </a:tc>
                <a:tc>
                  <a:txBody>
                    <a:bodyPr/>
                    <a:lstStyle/>
                    <a:p>
                      <a:pPr marL="0" marR="0" lvl="0" indent="0" algn="l" rtl="0">
                        <a:spcBef>
                          <a:spcPts val="0"/>
                        </a:spcBef>
                        <a:spcAft>
                          <a:spcPts val="0"/>
                        </a:spcAft>
                        <a:buNone/>
                      </a:pPr>
                      <a:r>
                        <a:rPr lang="en-US" sz="1800"/>
                        <a:t>Limitations</a:t>
                      </a:r>
                      <a:endParaRPr sz="1800"/>
                    </a:p>
                  </a:txBody>
                  <a:tcPr marL="91450" marR="91450" marT="45725" marB="45725"/>
                </a:tc>
                <a:extLst>
                  <a:ext uri="{0D108BD9-81ED-4DB2-BD59-A6C34878D82A}">
                    <a16:rowId xmlns:a16="http://schemas.microsoft.com/office/drawing/2014/main" val="10000"/>
                  </a:ext>
                </a:extLst>
              </a:tr>
              <a:tr h="2494500">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13.</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rPr>
                        <a:t> Emotional Detection and Music Recommendation System Based on User Facial Expression (ResearchGate)</a:t>
                      </a:r>
                      <a:endParaRPr sz="1200" b="0" dirty="0"/>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Facial emotion detection integrated with music recommendation module</a:t>
                      </a:r>
                      <a:endParaRPr sz="1200" b="0" dirty="0">
                        <a:solidFill>
                          <a:schemeClr val="dk1"/>
                        </a:solidFill>
                        <a:latin typeface="Calibri"/>
                        <a:ea typeface="Calibri"/>
                        <a:cs typeface="Calibri"/>
                        <a:sym typeface="Calibri"/>
                      </a:endParaRPr>
                    </a:p>
                  </a:txBody>
                  <a:tcPr marL="42125" marR="42125" marT="21075" marB="21075"/>
                </a:tc>
                <a:tc>
                  <a:txBody>
                    <a:bodyPr/>
                    <a:lstStyle/>
                    <a:p>
                      <a:pPr marL="0" marR="0" lvl="0" indent="0" algn="l" rtl="0">
                        <a:lnSpc>
                          <a:spcPct val="150000"/>
                        </a:lnSpc>
                        <a:spcBef>
                          <a:spcPts val="0"/>
                        </a:spcBef>
                        <a:spcAft>
                          <a:spcPts val="0"/>
                        </a:spcAft>
                        <a:buClr>
                          <a:schemeClr val="dk1"/>
                        </a:buClr>
                        <a:buSzPts val="1200"/>
                        <a:buFont typeface="Arial"/>
                        <a:buNone/>
                      </a:pPr>
                      <a:r>
                        <a:rPr lang="en-IN" sz="1200" b="0" dirty="0"/>
                        <a:t>Facial expression datasets</a:t>
                      </a:r>
                      <a:endParaRPr sz="1200" b="0" dirty="0"/>
                    </a:p>
                  </a:txBody>
                  <a:tcPr marL="42125" marR="42125" marT="21075" marB="21075"/>
                </a:tc>
                <a:tc>
                  <a:txBody>
                    <a:bodyPr/>
                    <a:lstStyle/>
                    <a:p>
                      <a:pPr marL="0" lvl="0" indent="0" algn="l" rtl="0">
                        <a:spcBef>
                          <a:spcPts val="0"/>
                        </a:spcBef>
                        <a:spcAft>
                          <a:spcPts val="0"/>
                        </a:spcAft>
                        <a:buNone/>
                      </a:pPr>
                      <a:r>
                        <a:rPr lang="en-US" dirty="0"/>
                        <a:t>Demonstrates integration of emotion detection with recommendation system</a:t>
                      </a:r>
                      <a:endParaRPr dirty="0"/>
                    </a:p>
                  </a:txBody>
                  <a:tcPr marL="42125" marR="42125" marT="21075" marB="2107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Limited scalability and dataset diversity</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1"/>
                  </a:ext>
                </a:extLst>
              </a:tr>
              <a:tr h="2426975">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dirty="0">
                          <a:solidFill>
                            <a:schemeClr val="dk1"/>
                          </a:solidFill>
                          <a:latin typeface="Calibri"/>
                          <a:ea typeface="Calibri"/>
                          <a:cs typeface="Calibri"/>
                          <a:sym typeface="Calibri"/>
                        </a:rPr>
                        <a:t>Music Recommendation System by Analyzing Facial Expressions (Mishra et al., 2024)</a:t>
                      </a:r>
                      <a:endParaRPr sz="120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US" sz="1200" b="0" dirty="0">
                          <a:solidFill>
                            <a:schemeClr val="dk1"/>
                          </a:solidFill>
                          <a:latin typeface="Calibri"/>
                          <a:ea typeface="Calibri"/>
                          <a:cs typeface="Calibri"/>
                          <a:sym typeface="Calibri"/>
                        </a:rPr>
                        <a:t>Computer vision for facial emotion detection combined with recommendation algorithm</a:t>
                      </a:r>
                      <a:endParaRPr sz="1200" b="0" dirty="0">
                        <a:solidFill>
                          <a:schemeClr val="dk1"/>
                        </a:solidFill>
                        <a:latin typeface="Calibri"/>
                        <a:ea typeface="Calibri"/>
                        <a:cs typeface="Calibri"/>
                        <a:sym typeface="Calibri"/>
                      </a:endParaRPr>
                    </a:p>
                  </a:txBody>
                  <a:tcPr marL="91450" marR="91450" marT="45725" marB="45725"/>
                </a:tc>
                <a:tc>
                  <a:txBody>
                    <a:bodyPr/>
                    <a:lstStyle/>
                    <a:p>
                      <a:pPr marL="0" marR="0" lvl="0" indent="0" algn="just" rtl="0">
                        <a:lnSpc>
                          <a:spcPct val="150000"/>
                        </a:lnSpc>
                        <a:spcBef>
                          <a:spcPts val="0"/>
                        </a:spcBef>
                        <a:spcAft>
                          <a:spcPts val="0"/>
                        </a:spcAft>
                        <a:buClr>
                          <a:schemeClr val="dk1"/>
                        </a:buClr>
                        <a:buSzPts val="1200"/>
                        <a:buFont typeface="Arial"/>
                        <a:buNone/>
                      </a:pPr>
                      <a:r>
                        <a:rPr lang="en-IN" sz="1200" b="0" dirty="0">
                          <a:solidFill>
                            <a:schemeClr val="dk1"/>
                          </a:solidFill>
                          <a:latin typeface="Calibri"/>
                          <a:ea typeface="Calibri"/>
                          <a:cs typeface="Calibri"/>
                          <a:sym typeface="Calibri"/>
                        </a:rPr>
                        <a:t>Facial image datasets</a:t>
                      </a:r>
                      <a:endParaRPr sz="1200" b="0" dirty="0">
                        <a:solidFill>
                          <a:schemeClr val="dk1"/>
                        </a:solidFill>
                        <a:latin typeface="Calibri"/>
                        <a:ea typeface="Calibri"/>
                        <a:cs typeface="Calibri"/>
                        <a:sym typeface="Calibri"/>
                      </a:endParaRPr>
                    </a:p>
                  </a:txBody>
                  <a:tcPr marL="91450" marR="91450" marT="45725" marB="45725"/>
                </a:tc>
                <a:tc>
                  <a:txBody>
                    <a:bodyPr/>
                    <a:lstStyle/>
                    <a:p>
                      <a:pPr marL="0" lvl="0" indent="0" algn="l" rtl="0">
                        <a:spcBef>
                          <a:spcPts val="0"/>
                        </a:spcBef>
                        <a:spcAft>
                          <a:spcPts val="0"/>
                        </a:spcAft>
                        <a:buNone/>
                      </a:pPr>
                      <a:r>
                        <a:rPr lang="en-US" dirty="0"/>
                        <a:t>Facial emotion recognition improves context-aware music recommendation</a:t>
                      </a:r>
                      <a:endParaRPr dirty="0"/>
                    </a:p>
                  </a:txBody>
                  <a:tcPr marL="91450" marR="91450" marT="45725" marB="45725"/>
                </a:tc>
                <a:tc>
                  <a:txBody>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Limited accuracy with small datasets</a:t>
                      </a:r>
                      <a:endParaRPr sz="1200"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0858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Methodology/Design</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Footer Placeholder 4"/>
          <p:cNvSpPr>
            <a:spLocks noGrp="1"/>
          </p:cNvSpPr>
          <p:nvPr>
            <p:ph type="ftr" idx="11"/>
          </p:nvPr>
        </p:nvSpPr>
        <p:spPr/>
        <p:txBody>
          <a:bodyPr/>
          <a:lstStyle/>
          <a:p>
            <a:r>
              <a:rPr lang="en-IN" dirty="0"/>
              <a:t>Mini Project (ISP67)</a:t>
            </a:r>
          </a:p>
        </p:txBody>
      </p:sp>
      <p:pic>
        <p:nvPicPr>
          <p:cNvPr id="8" name="Picture 7">
            <a:extLst>
              <a:ext uri="{FF2B5EF4-FFF2-40B4-BE49-F238E27FC236}">
                <a16:creationId xmlns:a16="http://schemas.microsoft.com/office/drawing/2014/main" id="{89EF6956-862C-4ED2-68C8-5B3D5499001A}"/>
              </a:ext>
            </a:extLst>
          </p:cNvPr>
          <p:cNvPicPr>
            <a:picLocks noChangeAspect="1"/>
          </p:cNvPicPr>
          <p:nvPr/>
        </p:nvPicPr>
        <p:blipFill>
          <a:blip r:embed="rId2"/>
          <a:stretch>
            <a:fillRect/>
          </a:stretch>
        </p:blipFill>
        <p:spPr>
          <a:xfrm>
            <a:off x="1790008" y="1814639"/>
            <a:ext cx="7686501" cy="4349725"/>
          </a:xfrm>
          <a:prstGeom prst="rect">
            <a:avLst/>
          </a:prstGeom>
        </p:spPr>
      </p:pic>
    </p:spTree>
    <p:extLst>
      <p:ext uri="{BB962C8B-B14F-4D97-AF65-F5344CB8AC3E}">
        <p14:creationId xmlns:p14="http://schemas.microsoft.com/office/powerpoint/2010/main" val="1779455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REFERENCES</a:t>
            </a:r>
            <a:endParaRPr dirty="0"/>
          </a:p>
        </p:txBody>
      </p:sp>
      <p:sp>
        <p:nvSpPr>
          <p:cNvPr id="164" name="Google Shape;164;p9"/>
          <p:cNvSpPr txBox="1">
            <a:spLocks noGrp="1"/>
          </p:cNvSpPr>
          <p:nvPr>
            <p:ph type="body" idx="1"/>
          </p:nvPr>
        </p:nvSpPr>
        <p:spPr>
          <a:xfrm>
            <a:off x="1036320" y="1737360"/>
            <a:ext cx="10058400" cy="4023360"/>
          </a:xfrm>
          <a:prstGeom prst="rect">
            <a:avLst/>
          </a:prstGeom>
          <a:noFill/>
          <a:ln>
            <a:noFill/>
          </a:ln>
        </p:spPr>
        <p:txBody>
          <a:bodyPr spcFirstLastPara="1" wrap="square" lIns="0" tIns="45700" rIns="0" bIns="45700" anchor="t" anchorCtr="0">
            <a:normAutofit/>
          </a:bodyPr>
          <a:lstStyle/>
          <a:p>
            <a:pPr marL="342900" marR="0" lvl="0" indent="-342900" algn="just"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1800" b="0" i="0" u="none" strike="noStrike" kern="1200" cap="none" spc="0" normalizeH="0" baseline="0" noProof="0" dirty="0" err="1">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Wijitra</a:t>
            </a:r>
            <a:r>
              <a:rPr kumimoji="0" lang="en-US" sz="18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Montri - Development of a real-time facial emotion recognition system based on deep learning and CCTV integration - Learning-Gate Journal (2023)</a:t>
            </a:r>
          </a:p>
          <a:p>
            <a:pPr marL="342900" marR="0" lvl="0" indent="-342900" algn="just"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Pranali Faye - Emotion Based Music Recommendation System - IJAECE, MRI India (2025)</a:t>
            </a:r>
          </a:p>
          <a:p>
            <a:pPr marL="342900" marR="0" lvl="0" indent="-342900" algn="just"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You Wu - Emotion-based music recommendation system - EXPRESSIFY - JETIR (2025)</a:t>
            </a:r>
          </a:p>
          <a:p>
            <a:pPr marL="342900" marR="0" lvl="0" indent="-342900" algn="just"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Shubham Kale- A Comprehensive Review of Multimodal Emotion Recognition - PubMed (2025)   </a:t>
            </a:r>
          </a:p>
          <a:p>
            <a:pPr marL="342900" marR="0" lvl="0" indent="-342900" algn="just" defTabSz="457200" rtl="0" eaLnBrk="1" fontAlgn="auto" latinLnBrk="0" hangingPunct="1">
              <a:lnSpc>
                <a:spcPct val="150000"/>
              </a:lnSpc>
              <a:spcBef>
                <a:spcPts val="1000"/>
              </a:spcBef>
              <a:spcAft>
                <a:spcPts val="0"/>
              </a:spcAft>
              <a:buClr>
                <a:srgbClr val="A53010"/>
              </a:buClr>
              <a:buSzTx/>
              <a:buFont typeface="Wingdings 3" charset="2"/>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MD Abdul Fahim Zeeshan- Enhancing Mental Health Interventions in the USA with Semi-Supervised Learning: An AI Approach to Emotion Prediction - Journal of Computer Science and Technology Studies(2025)</a:t>
            </a:r>
            <a:endParaRPr kumimoji="0" lang="en-IN" sz="18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endParaRPr>
          </a:p>
          <a:p>
            <a:pPr marL="91440" lvl="0" indent="-2539" algn="just" rtl="0">
              <a:lnSpc>
                <a:spcPct val="90000"/>
              </a:lnSpc>
              <a:spcBef>
                <a:spcPts val="1400"/>
              </a:spcBef>
              <a:spcAft>
                <a:spcPts val="0"/>
              </a:spcAft>
              <a:buSzPct val="100000"/>
              <a:buNone/>
            </a:pPr>
            <a:endParaRPr dirty="0">
              <a:latin typeface="Calibri"/>
              <a:ea typeface="Calibri"/>
              <a:cs typeface="Calibri"/>
              <a:sym typeface="Calibri"/>
            </a:endParaRPr>
          </a:p>
        </p:txBody>
      </p:sp>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Thank You</a:t>
            </a:r>
            <a:endParaRPr/>
          </a:p>
        </p:txBody>
      </p:sp>
      <p:sp>
        <p:nvSpPr>
          <p:cNvPr id="170" name="Google Shape;170;p1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endParaRPr dirty="0"/>
          </a:p>
        </p:txBody>
      </p:sp>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1622</Words>
  <Application>Microsoft Office PowerPoint</Application>
  <PresentationFormat>Widescreen</PresentationFormat>
  <Paragraphs>224</Paragraphs>
  <Slides>17</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 3</vt:lpstr>
      <vt:lpstr>Retrospect</vt:lpstr>
      <vt:lpstr>E-Motion Companion</vt:lpstr>
      <vt:lpstr>Introduction</vt:lpstr>
      <vt:lpstr>Motivation and Scope</vt:lpstr>
      <vt:lpstr>Motivation and Scope</vt:lpstr>
      <vt:lpstr>Challenges and Issues</vt:lpstr>
      <vt:lpstr>Problem Statement</vt:lpstr>
      <vt:lpstr>Objectives</vt:lpstr>
      <vt:lpstr>Literature review</vt:lpstr>
      <vt:lpstr>PowerPoint Presentation</vt:lpstr>
      <vt:lpstr>PowerPoint Presentation</vt:lpstr>
      <vt:lpstr>PowerPoint Presentation</vt:lpstr>
      <vt:lpstr>PowerPoint Presentation</vt:lpstr>
      <vt:lpstr>PowerPoint Presentation</vt:lpstr>
      <vt:lpstr>PowerPoint Presentation</vt:lpstr>
      <vt:lpstr>Methodology/Design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Shreyas S G</cp:lastModifiedBy>
  <cp:revision>26</cp:revision>
  <dcterms:created xsi:type="dcterms:W3CDTF">2020-02-04T09:15:24Z</dcterms:created>
  <dcterms:modified xsi:type="dcterms:W3CDTF">2026-03-05T08:05:30Z</dcterms:modified>
</cp:coreProperties>
</file>